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77570"/>
  </p:normalViewPr>
  <p:slideViewPr>
    <p:cSldViewPr snapToGrid="0" snapToObjects="1">
      <p:cViewPr varScale="1">
        <p:scale>
          <a:sx n="100" d="100"/>
          <a:sy n="100" d="100"/>
        </p:scale>
        <p:origin x="736"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YOLO11n</c:v>
                </c:pt>
              </c:strCache>
            </c:strRef>
          </c:tx>
          <c:spPr>
            <a:solidFill>
              <a:srgbClr val="C0504D"/>
            </a:solidFill>
            <a:effectLst/>
          </c:spPr>
          <c:invertIfNegative val="0"/>
          <c:dLbls>
            <c:dLbl>
              <c:idx val="0"/>
              <c:layout>
                <c:manualLayout>
                  <c:x val="-3.3852349379702345E-3"/>
                  <c:y val="1.9357247917571655E-2"/>
                </c:manualLayout>
              </c:layout>
              <c:tx>
                <c:rich>
                  <a:bodyPr/>
                  <a:lstStyle/>
                  <a:p>
                    <a:r>
                      <a:rPr lang="en-US"/>
                      <a:t>0.33</a:t>
                    </a:r>
                  </a:p>
                </c:rich>
              </c:tx>
              <c:showLegendKey val="0"/>
              <c:showVal val="1"/>
              <c:showCatName val="0"/>
              <c:showSerName val="0"/>
              <c:showPercent val="0"/>
              <c:showBubbleSize val="0"/>
              <c:extLst xmlns:ns3="http://schemas.microsoft.com/office/drawing/2014/chart" xmlns:ns2="http://schemas.microsoft.com/office/drawing/2012/chart">
                <c:ext xmlns:c15="http://schemas.microsoft.com/office/drawing/2012/chart" uri="{CE6537A1-D6FC-4f65-9D91-7224C49458BB}">
                  <c15:showDataLabelsRange val="0"/>
                </c:ext>
                <c:ext xmlns:c16="http://schemas.microsoft.com/office/drawing/2014/chart" uri="{C3380CC4-5D6E-409C-BE32-E72D297353CC}">
                  <c16:uniqueId val="{00000000-CB13-614D-92F0-BA0B08B8B286}"/>
                </c:ext>
              </c:extLst>
            </c:dLbl>
            <c:dLbl>
              <c:idx val="1"/>
              <c:tx>
                <c:rich>
                  <a:bodyPr/>
                  <a:lstStyle/>
                  <a:p>
                    <a:r>
                      <a:rPr lang="en-US"/>
                      <a:t>0.7986</a:t>
                    </a:r>
                  </a:p>
                </c:rich>
              </c:tx>
              <c:showLegendKey val="0"/>
              <c:showVal val="1"/>
              <c:showCatName val="0"/>
              <c:showSerName val="0"/>
              <c:showPercent val="0"/>
              <c:showBubbleSize val="0"/>
              <c:extLst xmlns:ns3="http://schemas.microsoft.com/office/drawing/2014/chart" xmlns:ns2="http://schemas.microsoft.com/office/drawing/2012/chart">
                <c:ext xmlns:c15="http://schemas.microsoft.com/office/drawing/2012/chart" uri="{CE6537A1-D6FC-4f65-9D91-7224C49458BB}">
                  <c15:showDataLabelsRange val="0"/>
                </c:ext>
                <c:ext xmlns:c16="http://schemas.microsoft.com/office/drawing/2014/chart" uri="{C3380CC4-5D6E-409C-BE32-E72D297353CC}">
                  <c16:uniqueId val="{00000002-CB13-614D-92F0-BA0B08B8B286}"/>
                </c:ext>
              </c:extLst>
            </c:dLbl>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xmlns:ns3="http://schemas.microsoft.com/office/drawing/2014/chart" xmlns:ns2="http://schemas.microsoft.com/office/drawing/2012/chart">
              <c:ext xmlns:c15="http://schemas.microsoft.com/office/drawing/2012/chart" uri="{CE6537A1-D6FC-4f65-9D91-7224C49458BB}">
                <c15:showLeaderLines val="0"/>
              </c:ext>
            </c:extLst>
          </c:dLbls>
          <c:cat>
            <c:strRef>
              <c:f>Sheet1!$A$2:$A$3</c:f>
              <c:strCache>
                <c:ptCount val="2"/>
                <c:pt idx="0">
                  <c:v>Small</c:v>
                </c:pt>
                <c:pt idx="1">
                  <c:v>Large</c:v>
                </c:pt>
              </c:strCache>
            </c:strRef>
          </c:cat>
          <c:val>
            <c:numRef>
              <c:f>Sheet1!$B$2:$B$3</c:f>
              <c:numCache>
                <c:formatCode>General</c:formatCode>
                <c:ptCount val="2"/>
                <c:pt idx="0">
                  <c:v>0.33100000000000002</c:v>
                </c:pt>
                <c:pt idx="1">
                  <c:v>0.79900000000000004</c:v>
                </c:pt>
              </c:numCache>
            </c:numRef>
          </c:val>
          <c:extLst xmlns:ns3="http://schemas.microsoft.com/office/drawing/2014/chart" xmlns:ns2="http://schemas.microsoft.com/office/drawing/2012/chart">
            <c:ext xmlns:c16="http://schemas.microsoft.com/office/drawing/2014/chart" uri="{C3380CC4-5D6E-409C-BE32-E72D297353CC}">
              <c16:uniqueId val="{00000000-D235-8843-B1C0-BE5CBDC774B2}"/>
            </c:ext>
          </c:extLst>
        </c:ser>
        <c:ser>
          <c:idx val="1"/>
          <c:order val="1"/>
          <c:tx>
            <c:strRef>
              <c:f>Sheet1!$C$1</c:f>
              <c:strCache>
                <c:ptCount val="1"/>
                <c:pt idx="0">
                  <c:v>YOLOX-Tiny</c:v>
                </c:pt>
              </c:strCache>
            </c:strRef>
          </c:tx>
          <c:spPr>
            <a:solidFill>
              <a:srgbClr val="4F81BD"/>
            </a:solidFill>
            <a:effectLst/>
          </c:spPr>
          <c:invertIfNegative val="0"/>
          <c:dLbls>
            <c:dLbl>
              <c:idx val="0"/>
              <c:tx>
                <c:rich>
                  <a:bodyPr/>
                  <a:lstStyle/>
                  <a:p>
                    <a:r>
                      <a:rPr lang="en-US"/>
                      <a:t>0.36</a:t>
                    </a:r>
                  </a:p>
                </c:rich>
              </c:tx>
              <c:showLegendKey val="0"/>
              <c:showVal val="1"/>
              <c:showCatName val="0"/>
              <c:showSerName val="0"/>
              <c:showPercent val="0"/>
              <c:showBubbleSize val="0"/>
              <c:extLst xmlns:ns3="http://schemas.microsoft.com/office/drawing/2014/chart" xmlns:ns2="http://schemas.microsoft.com/office/drawing/2012/chart">
                <c:ext xmlns:c15="http://schemas.microsoft.com/office/drawing/2012/chart" uri="{CE6537A1-D6FC-4f65-9D91-7224C49458BB}">
                  <c15:showDataLabelsRange val="0"/>
                </c:ext>
                <c:ext xmlns:c16="http://schemas.microsoft.com/office/drawing/2014/chart" uri="{C3380CC4-5D6E-409C-BE32-E72D297353CC}">
                  <c16:uniqueId val="{00000001-CB13-614D-92F0-BA0B08B8B286}"/>
                </c:ext>
              </c:extLst>
            </c:dLbl>
            <c:dLbl>
              <c:idx val="1"/>
              <c:tx>
                <c:rich>
                  <a:bodyPr/>
                  <a:lstStyle/>
                  <a:p>
                    <a:r>
                      <a:rPr lang="en-US"/>
                      <a:t>0.7469</a:t>
                    </a:r>
                  </a:p>
                </c:rich>
              </c:tx>
              <c:showLegendKey val="0"/>
              <c:showVal val="1"/>
              <c:showCatName val="0"/>
              <c:showSerName val="0"/>
              <c:showPercent val="0"/>
              <c:showBubbleSize val="0"/>
              <c:extLst xmlns:ns3="http://schemas.microsoft.com/office/drawing/2014/chart" xmlns:ns2="http://schemas.microsoft.com/office/drawing/2012/chart">
                <c:ext xmlns:c15="http://schemas.microsoft.com/office/drawing/2012/chart" uri="{CE6537A1-D6FC-4f65-9D91-7224C49458BB}">
                  <c15:showDataLabelsRange val="0"/>
                </c:ext>
                <c:ext xmlns:c16="http://schemas.microsoft.com/office/drawing/2014/chart" uri="{C3380CC4-5D6E-409C-BE32-E72D297353CC}">
                  <c16:uniqueId val="{00000003-CB13-614D-92F0-BA0B08B8B286}"/>
                </c:ext>
              </c:extLst>
            </c:dLbl>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xmlns:ns3="http://schemas.microsoft.com/office/drawing/2014/chart" xmlns:ns2="http://schemas.microsoft.com/office/drawing/2012/chart">
              <c:ext xmlns:c15="http://schemas.microsoft.com/office/drawing/2012/chart" uri="{CE6537A1-D6FC-4f65-9D91-7224C49458BB}">
                <c15:showLeaderLines val="0"/>
              </c:ext>
            </c:extLst>
          </c:dLbls>
          <c:cat>
            <c:strRef>
              <c:f>Sheet1!$A$2:$A$3</c:f>
              <c:strCache>
                <c:ptCount val="2"/>
                <c:pt idx="0">
                  <c:v>Small</c:v>
                </c:pt>
                <c:pt idx="1">
                  <c:v>Large</c:v>
                </c:pt>
              </c:strCache>
            </c:strRef>
          </c:cat>
          <c:val>
            <c:numRef>
              <c:f>Sheet1!$C$2:$C$3</c:f>
              <c:numCache>
                <c:formatCode>General</c:formatCode>
                <c:ptCount val="2"/>
                <c:pt idx="0">
                  <c:v>0.36199999999999999</c:v>
                </c:pt>
                <c:pt idx="1">
                  <c:v>0.747</c:v>
                </c:pt>
              </c:numCache>
            </c:numRef>
          </c:val>
          <c:extLst xmlns:ns3="http://schemas.microsoft.com/office/drawing/2014/chart" xmlns:ns2="http://schemas.microsoft.com/office/drawing/2012/chart">
            <c:ext xmlns:c16="http://schemas.microsoft.com/office/drawing/2014/chart" uri="{C3380CC4-5D6E-409C-BE32-E72D297353CC}">
              <c16:uniqueId val="{00000001-D235-8843-B1C0-BE5CBDC774B2}"/>
            </c:ext>
          </c:extLst>
        </c:ser>
        <c:ser>
          <c:idx val="2"/>
          <c:order val="2"/>
          <c:tx>
            <c:strRef>
              <c:f>Sheet1!$D$1</c:f>
              <c:strCache>
                <c:ptCount val="1"/>
                <c:pt idx="0">
                  <c:v>RF-DETR Small</c:v>
                </c:pt>
              </c:strCache>
            </c:strRef>
          </c:tx>
          <c:spPr>
            <a:solidFill>
              <a:srgbClr val="F2A541"/>
            </a:solidFill>
            <a:effectLst/>
          </c:spPr>
          <c:invertIfNegative val="0"/>
          <c:dLbls>
            <c:dLbl>
              <c:idx val="1"/>
              <c:tx>
                <c:rich>
                  <a:bodyPr/>
                  <a:lstStyle/>
                  <a:p>
                    <a:r>
                      <a:rPr lang="en-US"/>
                      <a:t>0.8265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173-AD4F-A087-55918BE9B5B7}"/>
                </c:ext>
              </c:extLst>
            </c:dLbl>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xmlns:ns3="http://schemas.microsoft.com/office/drawing/2014/chart" xmlns:ns2="http://schemas.microsoft.com/office/drawing/2012/chart">
              <c:ext xmlns:c15="http://schemas.microsoft.com/office/drawing/2012/chart" uri="{CE6537A1-D6FC-4f65-9D91-7224C49458BB}">
                <c15:showLeaderLines val="0"/>
              </c:ext>
            </c:extLst>
          </c:dLbls>
          <c:cat>
            <c:strRef>
              <c:f>Sheet1!$A$2:$A$3</c:f>
              <c:strCache>
                <c:ptCount val="2"/>
                <c:pt idx="0">
                  <c:v>Small</c:v>
                </c:pt>
                <c:pt idx="1">
                  <c:v>Large</c:v>
                </c:pt>
              </c:strCache>
            </c:strRef>
          </c:cat>
          <c:val>
            <c:numRef>
              <c:f>Sheet1!$D$2:$D$3</c:f>
              <c:numCache>
                <c:formatCode>General</c:formatCode>
                <c:ptCount val="2"/>
                <c:pt idx="1">
                  <c:v>0.82650000000000001</c:v>
                </c:pt>
              </c:numCache>
            </c:numRef>
          </c:val>
          <c:extLst>
            <c:ext xmlns:c16="http://schemas.microsoft.com/office/drawing/2014/chart" uri="{C3380CC4-5D6E-409C-BE32-E72D297353CC}">
              <c16:uniqueId val="{00000001-B173-AD4F-A087-55918BE9B5B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majorUnit val="0.2"/>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YOLO11n</c:v>
                </c:pt>
              </c:strCache>
            </c:strRef>
          </c:tx>
          <c:spPr>
            <a:solidFill>
              <a:srgbClr val="C0504D"/>
            </a:solidFill>
            <a:effectLst/>
          </c:spPr>
          <c:invertIfNegative val="0"/>
          <c:dLbls>
            <c:dLbl>
              <c:idx val="0"/>
              <c:layout>
                <c:manualLayout>
                  <c:x val="-3.3852349379702345E-3"/>
                  <c:y val="1.9357247917571655E-2"/>
                </c:manualLayout>
              </c:layout>
              <c:tx>
                <c:rich>
                  <a:bodyPr/>
                  <a:lstStyle/>
                  <a:p>
                    <a:r>
                      <a:rPr lang="en-US"/>
                      <a:t>0.33</a:t>
                    </a:r>
                  </a:p>
                </c:rich>
              </c:tx>
              <c:showLegendKey val="0"/>
              <c:showVal val="1"/>
              <c:showCatName val="0"/>
              <c:showSerName val="0"/>
              <c:showPercent val="0"/>
              <c:showBubbleSize val="0"/>
              <c:extLst xmlns:ns3="http://schemas.microsoft.com/office/drawing/2014/chart" xmlns:ns2="http://schemas.microsoft.com/office/drawing/2012/chart">
                <c:ext xmlns:c15="http://schemas.microsoft.com/office/drawing/2012/chart" uri="{CE6537A1-D6FC-4f65-9D91-7224C49458BB}">
                  <c15:showDataLabelsRange val="0"/>
                </c:ext>
                <c:ext xmlns:c16="http://schemas.microsoft.com/office/drawing/2014/chart" uri="{C3380CC4-5D6E-409C-BE32-E72D297353CC}">
                  <c16:uniqueId val="{00000000-E64D-8546-BBA5-CD9D0EEBB67F}"/>
                </c:ext>
              </c:extLst>
            </c:dLbl>
            <c:dLbl>
              <c:idx val="1"/>
              <c:tx>
                <c:rich>
                  <a:bodyPr/>
                  <a:lstStyle/>
                  <a:p>
                    <a:r>
                      <a:rPr lang="en-US"/>
                      <a:t>0.7986</a:t>
                    </a:r>
                  </a:p>
                </c:rich>
              </c:tx>
              <c:showLegendKey val="0"/>
              <c:showVal val="1"/>
              <c:showCatName val="0"/>
              <c:showSerName val="0"/>
              <c:showPercent val="0"/>
              <c:showBubbleSize val="0"/>
              <c:extLst xmlns:ns3="http://schemas.microsoft.com/office/drawing/2014/chart" xmlns:ns2="http://schemas.microsoft.com/office/drawing/2012/chart">
                <c:ext xmlns:c15="http://schemas.microsoft.com/office/drawing/2012/chart" uri="{CE6537A1-D6FC-4f65-9D91-7224C49458BB}">
                  <c15:showDataLabelsRange val="0"/>
                </c:ext>
                <c:ext xmlns:c16="http://schemas.microsoft.com/office/drawing/2014/chart" uri="{C3380CC4-5D6E-409C-BE32-E72D297353CC}">
                  <c16:uniqueId val="{00000001-E64D-8546-BBA5-CD9D0EEBB67F}"/>
                </c:ext>
              </c:extLst>
            </c:dLbl>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xmlns:ns3="http://schemas.microsoft.com/office/drawing/2014/chart" xmlns:ns2="http://schemas.microsoft.com/office/drawing/2012/chart">
              <c:ext xmlns:c15="http://schemas.microsoft.com/office/drawing/2012/chart" uri="{CE6537A1-D6FC-4f65-9D91-7224C49458BB}">
                <c15:showLeaderLines val="0"/>
              </c:ext>
            </c:extLst>
          </c:dLbls>
          <c:cat>
            <c:strRef>
              <c:f>Sheet1!$A$2:$A$3</c:f>
              <c:strCache>
                <c:ptCount val="2"/>
                <c:pt idx="0">
                  <c:v>Small</c:v>
                </c:pt>
                <c:pt idx="1">
                  <c:v>Large</c:v>
                </c:pt>
              </c:strCache>
            </c:strRef>
          </c:cat>
          <c:val>
            <c:numRef>
              <c:f>Sheet1!$B$2:$B$3</c:f>
              <c:numCache>
                <c:formatCode>General</c:formatCode>
                <c:ptCount val="2"/>
                <c:pt idx="0">
                  <c:v>0.33100000000000002</c:v>
                </c:pt>
                <c:pt idx="1">
                  <c:v>0.79900000000000004</c:v>
                </c:pt>
              </c:numCache>
            </c:numRef>
          </c:val>
          <c:extLst xmlns:ns3="http://schemas.microsoft.com/office/drawing/2014/chart" xmlns:ns2="http://schemas.microsoft.com/office/drawing/2012/chart">
            <c:ext xmlns:c16="http://schemas.microsoft.com/office/drawing/2014/chart" uri="{C3380CC4-5D6E-409C-BE32-E72D297353CC}">
              <c16:uniqueId val="{00000002-E64D-8546-BBA5-CD9D0EEBB67F}"/>
            </c:ext>
          </c:extLst>
        </c:ser>
        <c:ser>
          <c:idx val="1"/>
          <c:order val="1"/>
          <c:tx>
            <c:strRef>
              <c:f>Sheet1!$C$1</c:f>
              <c:strCache>
                <c:ptCount val="1"/>
                <c:pt idx="0">
                  <c:v>YOLOX-Tiny</c:v>
                </c:pt>
              </c:strCache>
            </c:strRef>
          </c:tx>
          <c:spPr>
            <a:solidFill>
              <a:srgbClr val="4F81BD"/>
            </a:solidFill>
            <a:effectLst/>
          </c:spPr>
          <c:invertIfNegative val="0"/>
          <c:dLbls>
            <c:dLbl>
              <c:idx val="0"/>
              <c:tx>
                <c:rich>
                  <a:bodyPr/>
                  <a:lstStyle/>
                  <a:p>
                    <a:r>
                      <a:rPr lang="en-US"/>
                      <a:t>0.36</a:t>
                    </a:r>
                  </a:p>
                </c:rich>
              </c:tx>
              <c:showLegendKey val="0"/>
              <c:showVal val="1"/>
              <c:showCatName val="0"/>
              <c:showSerName val="0"/>
              <c:showPercent val="0"/>
              <c:showBubbleSize val="0"/>
              <c:extLst xmlns:ns3="http://schemas.microsoft.com/office/drawing/2014/chart" xmlns:ns2="http://schemas.microsoft.com/office/drawing/2012/chart">
                <c:ext xmlns:c15="http://schemas.microsoft.com/office/drawing/2012/chart" uri="{CE6537A1-D6FC-4f65-9D91-7224C49458BB}">
                  <c15:showDataLabelsRange val="0"/>
                </c:ext>
                <c:ext xmlns:c16="http://schemas.microsoft.com/office/drawing/2014/chart" uri="{C3380CC4-5D6E-409C-BE32-E72D297353CC}">
                  <c16:uniqueId val="{00000003-E64D-8546-BBA5-CD9D0EEBB67F}"/>
                </c:ext>
              </c:extLst>
            </c:dLbl>
            <c:dLbl>
              <c:idx val="1"/>
              <c:tx>
                <c:rich>
                  <a:bodyPr/>
                  <a:lstStyle/>
                  <a:p>
                    <a:r>
                      <a:rPr lang="en-US"/>
                      <a:t>0.7469</a:t>
                    </a:r>
                  </a:p>
                </c:rich>
              </c:tx>
              <c:showLegendKey val="0"/>
              <c:showVal val="1"/>
              <c:showCatName val="0"/>
              <c:showSerName val="0"/>
              <c:showPercent val="0"/>
              <c:showBubbleSize val="0"/>
              <c:extLst xmlns:ns3="http://schemas.microsoft.com/office/drawing/2014/chart" xmlns:ns2="http://schemas.microsoft.com/office/drawing/2012/chart">
                <c:ext xmlns:c15="http://schemas.microsoft.com/office/drawing/2012/chart" uri="{CE6537A1-D6FC-4f65-9D91-7224C49458BB}">
                  <c15:showDataLabelsRange val="0"/>
                </c:ext>
                <c:ext xmlns:c16="http://schemas.microsoft.com/office/drawing/2014/chart" uri="{C3380CC4-5D6E-409C-BE32-E72D297353CC}">
                  <c16:uniqueId val="{00000004-E64D-8546-BBA5-CD9D0EEBB67F}"/>
                </c:ext>
              </c:extLst>
            </c:dLbl>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xmlns:ns3="http://schemas.microsoft.com/office/drawing/2014/chart" xmlns:ns2="http://schemas.microsoft.com/office/drawing/2012/chart">
              <c:ext xmlns:c15="http://schemas.microsoft.com/office/drawing/2012/chart" uri="{CE6537A1-D6FC-4f65-9D91-7224C49458BB}">
                <c15:showLeaderLines val="0"/>
              </c:ext>
            </c:extLst>
          </c:dLbls>
          <c:cat>
            <c:strRef>
              <c:f>Sheet1!$A$2:$A$3</c:f>
              <c:strCache>
                <c:ptCount val="2"/>
                <c:pt idx="0">
                  <c:v>Small</c:v>
                </c:pt>
                <c:pt idx="1">
                  <c:v>Large</c:v>
                </c:pt>
              </c:strCache>
            </c:strRef>
          </c:cat>
          <c:val>
            <c:numRef>
              <c:f>Sheet1!$C$2:$C$3</c:f>
              <c:numCache>
                <c:formatCode>General</c:formatCode>
                <c:ptCount val="2"/>
                <c:pt idx="0">
                  <c:v>0.36199999999999999</c:v>
                </c:pt>
                <c:pt idx="1">
                  <c:v>0.747</c:v>
                </c:pt>
              </c:numCache>
            </c:numRef>
          </c:val>
          <c:extLst xmlns:ns3="http://schemas.microsoft.com/office/drawing/2014/chart" xmlns:ns2="http://schemas.microsoft.com/office/drawing/2012/chart">
            <c:ext xmlns:c16="http://schemas.microsoft.com/office/drawing/2014/chart" uri="{C3380CC4-5D6E-409C-BE32-E72D297353CC}">
              <c16:uniqueId val="{00000005-E64D-8546-BBA5-CD9D0EEBB67F}"/>
            </c:ext>
          </c:extLst>
        </c:ser>
        <c:ser>
          <c:idx val="2"/>
          <c:order val="2"/>
          <c:tx>
            <c:strRef>
              <c:f>Sheet1!$D$1</c:f>
              <c:strCache>
                <c:ptCount val="1"/>
                <c:pt idx="0">
                  <c:v>RF-DETR Small</c:v>
                </c:pt>
              </c:strCache>
            </c:strRef>
          </c:tx>
          <c:spPr>
            <a:solidFill>
              <a:srgbClr val="F2A541"/>
            </a:solidFill>
            <a:effectLst/>
          </c:spPr>
          <c:invertIfNegative val="0"/>
          <c:dLbls>
            <c:dLbl>
              <c:idx val="1"/>
              <c:tx>
                <c:rich>
                  <a:bodyPr/>
                  <a:lstStyle/>
                  <a:p>
                    <a:r>
                      <a:rPr lang="en-US"/>
                      <a:t>0.8265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E64D-8546-BBA5-CD9D0EEBB67F}"/>
                </c:ext>
              </c:extLst>
            </c:dLbl>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xmlns:ns3="http://schemas.microsoft.com/office/drawing/2014/chart" xmlns:ns2="http://schemas.microsoft.com/office/drawing/2012/chart">
              <c:ext xmlns:c15="http://schemas.microsoft.com/office/drawing/2012/chart" uri="{CE6537A1-D6FC-4f65-9D91-7224C49458BB}">
                <c15:showLeaderLines val="0"/>
              </c:ext>
            </c:extLst>
          </c:dLbls>
          <c:cat>
            <c:strRef>
              <c:f>Sheet1!$A$2:$A$3</c:f>
              <c:strCache>
                <c:ptCount val="2"/>
                <c:pt idx="0">
                  <c:v>Small</c:v>
                </c:pt>
                <c:pt idx="1">
                  <c:v>Large</c:v>
                </c:pt>
              </c:strCache>
            </c:strRef>
          </c:cat>
          <c:val>
            <c:numRef>
              <c:f>Sheet1!$D$2:$D$3</c:f>
              <c:numCache>
                <c:formatCode>General</c:formatCode>
                <c:ptCount val="2"/>
                <c:pt idx="1">
                  <c:v>0.82650000000000001</c:v>
                </c:pt>
              </c:numCache>
            </c:numRef>
          </c:val>
          <c:extLst>
            <c:ext xmlns:c16="http://schemas.microsoft.com/office/drawing/2014/chart" uri="{C3380CC4-5D6E-409C-BE32-E72D297353CC}">
              <c16:uniqueId val="{00000007-E64D-8546-BBA5-CD9D0EEBB6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4"/>
        <c:crosses val="autoZero"/>
        <c:crossBetween val="between"/>
        <c:majorUnit val="0.2"/>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514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[0:30–1:40</a:t>
            </a:r>
            <a:r>
              <a:rPr lang="en-US"/>
              <a:t>] </a:t>
            </a:r>
            <a:r>
              <a:rPr lang="en-IE"/>
              <a:t>YOLOX is maintained under Megvii, which is subject to U.S. government restrictions. This introduces an additional organisational and supply-chain consideration, although it does not alter the repository’s Apache 2.0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[1:40–2:50] This is the concrete-work slide. The outputs are reusable dataset builders, traceable manifests, three model pipelines, saved checkpoints/metrics, and reproducible MacBook-development plus Renku-CUDA environments. The model work is currently Python/PyTorch-first because the chosen detectors are PyTorch-native; ONNX Runtime, TensorFlow/Keras, and TFLite have not yet been exercised as deployment paths.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[2:50–4:15] I used existing public, pre-annotated Roboflow Universe datasets; I have not added manual or auto-labelling yet. The engineering work normalized inconsistent class names, preserved hard negatives, prevented cross-split leakage, removed exact duplicates for football, and exported COCO plus YOLO formats with provenance. Public availability is not the same as production clearance, so each source licence and attribution requirement still needs a recorded audit.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[4:15–5:35] YOLO11n is a useful benchmark, but Ultralytics’ default route is AGPL-3.0 or a paid enterprise licence, so I do not recommend it for the proprietary app by default. YOLOX-Tiny and RF-DETR Small are the permissive candidates under Apache-2.0. The model variant matters: this assessment is specifically RF-DETR Small, not the differently licensed XL/2XL models. This is a technical assessment, not legal advice.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[5:35–6:50] Development and data checks ran locally on the MacBook; the reported training ran headlessly on Renku/DCU CUDA, not Colab. YOLO11n and YOLOX used 100 epochs on the large dataset; RF-DETR had a 100-epoch ceiling and early-stopped after 31 epochs. All used 640-pixel input, but frameworks, batch sizes, augmentation, loss, and post-processing differ, so this is an engineering comparison rather than a controlled architecture paper.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[6:50–8:50] These are the five representative completed configurations requested in the email. I excluded repeated executions and smoke/debug runs rather than presenting them as independent experiments. These are framework-native metrics; the common exported-prediction comparison is still pending. The large dataset changes the result dramatically. RF-DETR Small is best on test AP50:95 at 0.8265, versus 0.7986 for YOLO11n and 0.7469 for YOLOX-Tiny. The parameter counts are 2.59 million for YOLO11n, 5.03 million for YOLOX-Tiny and 32.0 million for RF-DETR Small. RF-DETR's accuracy lead therefore comes with a substantially larger model, making export size and measured mobile latency important decision gates. RF-DETR time is approximately 3.6 hours across the interrupted attempt and resume. Its latency is deliberately blank because it was not measured.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[8:50–10:00] The main learning is about data, not a tiny leaderboard difference. Both YOLO baselines improved sharply from the 150-image pipeline check to the 14,052-image source-separated benchmark. That means future decisions should be made on the large benchmark and on real failure cases. The plots simply show stable training; I would not narrate every curve.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[10:00–11:15] RF-DETR Small is the strongest current accuracy candidate. The checkpoint was selected on validation AP50:95, not on the test set, then evaluated on the held-out test split. Its 0.8265 AP50:95 and the fixed prediction grid are encouraging. The limitation is equally important: inference was not timed, export was not tried, and the observed training duration combines an interrupted attempt with a resume.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[11:15–12:45] I recommend narrowing rather than adding models. First, measure RF-DETR batch-one latency and review failure cases. Second, make an ONNX export and require prediction parity in ONNX Runtime. Third, train the already-prepared football dataset. Finally, document the complete inference contract needed by an app. ONNX is the first target; TFLite is deferred unless the chosen mobile/Unity runtime requires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[12:45–14:30] My primary 3–4 week path is RF-DETR Small. I will first evaluate it on basketball and football, then test ONNX export and runtime parity. The observed large-basketball run took about 3.6 hours including interruption and resume, so training itself is hours; data quality, export compatibility and integration are the schedule risks. I would allow one week for RF-DETR export and parity testing. If RF-DETR latency or export is unsuitable, YOLOX is the technical fallback. YOLO11n remains a benchmark only because its default licensing route does not fit the proprietary app. Full Unity integration and a third class remain follow-on work, not funding promises. Pause here for discussion.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[Appendix—only if asked] This maps the claims back to the executed Renku notebooks and the licensing review. The key deployment-status evidence is negative but useful: there is no ONNX or TFLite model artifact and no Unity integration in the repository yet. Licence sources were checked against the official Ultralytics, YOLOX, and RF-DETR materials.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A7A5"/>
          </a:solidFill>
          <a:ln w="12700">
            <a:solidFill>
              <a:srgbClr val="2AA7A5"/>
            </a:solidFill>
            <a:prstDash val="solid"/>
          </a:ln>
        </p:spPr>
        <p:txBody>
          <a:bodyPr/>
          <a:lstStyle/>
          <a:p>
            <a:endParaRPr lang="en-US"/>
          </a:p>
        </p:txBody>
      </p:sp>
      <p:pic>
        <p:nvPicPr>
          <p:cNvPr id="3" name="Image 0" descr="/mnt/data/notebook_images/nb02.02-ultra_yolo11n_large_basketball_cell19_out7.jpg"/>
          <p:cNvPicPr>
            <a:picLocks noChangeAspect="1"/>
          </p:cNvPicPr>
          <p:nvPr/>
        </p:nvPicPr>
        <p:blipFill>
          <a:blip r:embed="rId3"/>
          <a:srcRect l="10241" r="10241"/>
          <a:stretch/>
        </p:blipFill>
        <p:spPr>
          <a:xfrm>
            <a:off x="6812280" y="274320"/>
            <a:ext cx="4828032" cy="6071616"/>
          </a:xfrm>
          <a:prstGeom prst="rect">
            <a:avLst/>
          </a:prstGeom>
        </p:spPr>
      </p:pic>
      <p:sp>
        <p:nvSpPr>
          <p:cNvPr id="4" name="Text 1"/>
          <p:cNvSpPr/>
          <p:nvPr/>
        </p:nvSpPr>
        <p:spPr>
          <a:xfrm>
            <a:off x="658368" y="621792"/>
            <a:ext cx="1920240" cy="219456"/>
          </a:xfrm>
          <a:prstGeom prst="rect">
            <a:avLst/>
          </a:prstGeom>
          <a:noFill/>
          <a:ln/>
        </p:spPr>
        <p:txBody>
          <a:bodyPr wrap="square" lIns="0" tIns="0" rIns="0" bIns="0" rtlCol="0" anchor="ctr"/>
          <a:lstStyle/>
          <a:p>
            <a:pPr marL="0" indent="0">
              <a:buNone/>
            </a:pPr>
            <a:r>
              <a:rPr lang="en-US" sz="1200" b="1">
                <a:solidFill>
                  <a:srgbClr val="2AA7A5"/>
                </a:solidFill>
              </a:rPr>
              <a:t>ENABLE PROJECT</a:t>
            </a:r>
            <a:endParaRPr lang="en-US" sz="1200" dirty="0"/>
          </a:p>
        </p:txBody>
      </p:sp>
      <p:sp>
        <p:nvSpPr>
          <p:cNvPr id="5" name="Text 2"/>
          <p:cNvSpPr/>
          <p:nvPr/>
        </p:nvSpPr>
        <p:spPr>
          <a:xfrm>
            <a:off x="658368" y="1078992"/>
            <a:ext cx="5303520" cy="1234440"/>
          </a:xfrm>
          <a:prstGeom prst="rect">
            <a:avLst/>
          </a:prstGeom>
          <a:noFill/>
          <a:ln/>
        </p:spPr>
        <p:txBody>
          <a:bodyPr wrap="square" lIns="0" tIns="0" rIns="0" bIns="0" rtlCol="0" anchor="ctr">
            <a:normAutofit/>
          </a:bodyPr>
          <a:lstStyle/>
          <a:p>
            <a:pPr marL="0" indent="0">
              <a:buNone/>
            </a:pPr>
            <a:r>
              <a:rPr lang="en-US" sz="3400" b="1" dirty="0">
                <a:solidFill>
                  <a:srgbClr val="151A23"/>
                </a:solidFill>
              </a:rPr>
              <a:t>Object Detection</a:t>
            </a:r>
            <a:endParaRPr lang="en-US" sz="3400" dirty="0"/>
          </a:p>
          <a:p>
            <a:pPr marL="0" indent="0">
              <a:buNone/>
            </a:pPr>
            <a:r>
              <a:rPr lang="en-US" sz="3400" b="1" dirty="0">
                <a:solidFill>
                  <a:srgbClr val="151A23"/>
                </a:solidFill>
              </a:rPr>
              <a:t>Progress Review</a:t>
            </a:r>
            <a:endParaRPr lang="en-US" sz="3400" dirty="0"/>
          </a:p>
        </p:txBody>
      </p:sp>
      <p:sp>
        <p:nvSpPr>
          <p:cNvPr id="6" name="Text 3"/>
          <p:cNvSpPr/>
          <p:nvPr/>
        </p:nvSpPr>
        <p:spPr>
          <a:xfrm>
            <a:off x="676656" y="2578608"/>
            <a:ext cx="5349240" cy="320040"/>
          </a:xfrm>
          <a:prstGeom prst="rect">
            <a:avLst/>
          </a:prstGeom>
          <a:noFill/>
          <a:ln/>
        </p:spPr>
        <p:txBody>
          <a:bodyPr wrap="square" lIns="0" tIns="0" rIns="0" bIns="0" rtlCol="0" anchor="ctr">
            <a:normAutofit/>
          </a:bodyPr>
          <a:lstStyle/>
          <a:p>
            <a:pPr marL="0" indent="0">
              <a:buNone/>
            </a:pPr>
            <a:r>
              <a:rPr lang="en-US" sz="1350" dirty="0">
                <a:solidFill>
                  <a:srgbClr val="30415F"/>
                </a:solidFill>
              </a:rPr>
              <a:t>Dataset pipeline · YOLO baselines · </a:t>
            </a:r>
            <a:r>
              <a:rPr lang="en-US" sz="1350">
                <a:solidFill>
                  <a:srgbClr val="30415F"/>
                </a:solidFill>
              </a:rPr>
              <a:t>RF-DETR candidate</a:t>
            </a:r>
            <a:endParaRPr lang="en-US" sz="1350" dirty="0"/>
          </a:p>
        </p:txBody>
      </p:sp>
      <p:sp>
        <p:nvSpPr>
          <p:cNvPr id="7" name="Text 4"/>
          <p:cNvSpPr/>
          <p:nvPr/>
        </p:nvSpPr>
        <p:spPr>
          <a:xfrm>
            <a:off x="676656" y="5815584"/>
            <a:ext cx="5303520" cy="274320"/>
          </a:xfrm>
          <a:prstGeom prst="rect">
            <a:avLst/>
          </a:prstGeom>
          <a:noFill/>
          <a:ln/>
        </p:spPr>
        <p:txBody>
          <a:bodyPr wrap="square" lIns="0" tIns="0" rIns="0" bIns="0" rtlCol="0" anchor="ctr">
            <a:normAutofit/>
          </a:bodyPr>
          <a:lstStyle/>
          <a:p>
            <a:pPr marL="0" indent="0">
              <a:buNone/>
            </a:pPr>
            <a:r>
              <a:rPr lang="en-US" sz="900">
                <a:solidFill>
                  <a:srgbClr val="6B7280"/>
                </a:solidFill>
              </a:rPr>
              <a:t>Clymber Loong· </a:t>
            </a:r>
            <a:r>
              <a:rPr lang="en-US" sz="900" dirty="0">
                <a:solidFill>
                  <a:srgbClr val="6B7280"/>
                </a:solidFill>
              </a:rPr>
              <a:t>Progress since June 2026 · 8 September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Current position</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The benchmark pipeline is working; RF-DETR Small provisionally leads reported accuracy, while export and latency remain the next gap.</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02</a:t>
            </a:r>
            <a:endParaRPr lang="en-US" sz="720" dirty="0"/>
          </a:p>
        </p:txBody>
      </p:sp>
      <p:sp>
        <p:nvSpPr>
          <p:cNvPr id="7" name="Text 5"/>
          <p:cNvSpPr/>
          <p:nvPr/>
        </p:nvSpPr>
        <p:spPr>
          <a:xfrm>
            <a:off x="658368" y="1152144"/>
            <a:ext cx="1600200" cy="1042416"/>
          </a:xfrm>
          <a:prstGeom prst="rect">
            <a:avLst/>
          </a:prstGeom>
          <a:noFill/>
          <a:ln/>
        </p:spPr>
        <p:txBody>
          <a:bodyPr wrap="square" lIns="0" tIns="0" rIns="0" bIns="0" rtlCol="0" anchor="ctr">
            <a:normAutofit lnSpcReduction="10000"/>
          </a:bodyPr>
          <a:lstStyle/>
          <a:p>
            <a:r>
              <a:rPr lang="en-IE" sz="1050" b="1"/>
              <a:t>Datasets built</a:t>
            </a:r>
          </a:p>
          <a:p>
            <a:r>
              <a:rPr lang="en-IE" sz="1050" b="1"/>
              <a:t>19,084 images prepared</a:t>
            </a:r>
          </a:p>
          <a:p>
            <a:endParaRPr lang="en-IE" sz="1050"/>
          </a:p>
          <a:p>
            <a:pPr lvl="0"/>
            <a:r>
              <a:rPr lang="en-IE" sz="1050"/>
              <a:t>Basketball: 14,052 images </a:t>
            </a:r>
          </a:p>
          <a:p>
            <a:pPr lvl="0"/>
            <a:r>
              <a:rPr lang="en-IE" sz="1050"/>
              <a:t>Football: 5,032 images </a:t>
            </a:r>
          </a:p>
          <a:p>
            <a:pPr lvl="0"/>
            <a:r>
              <a:rPr lang="en-IE" sz="1050"/>
              <a:t>Normalized and exported in COCO and YOLO formats</a:t>
            </a:r>
          </a:p>
        </p:txBody>
      </p:sp>
      <p:sp>
        <p:nvSpPr>
          <p:cNvPr id="8" name="Shape 6"/>
          <p:cNvSpPr/>
          <p:nvPr/>
        </p:nvSpPr>
        <p:spPr>
          <a:xfrm>
            <a:off x="658368" y="2258568"/>
            <a:ext cx="1143000" cy="0"/>
          </a:xfrm>
          <a:prstGeom prst="line">
            <a:avLst/>
          </a:prstGeom>
          <a:noFill/>
          <a:ln w="25400">
            <a:solidFill>
              <a:srgbClr val="2AA7A5"/>
            </a:solidFill>
            <a:prstDash val="solid"/>
          </a:ln>
        </p:spPr>
        <p:txBody>
          <a:bodyPr/>
          <a:lstStyle/>
          <a:p>
            <a:endParaRPr lang="en-US"/>
          </a:p>
        </p:txBody>
      </p:sp>
      <p:sp>
        <p:nvSpPr>
          <p:cNvPr id="9" name="Text 7"/>
          <p:cNvSpPr/>
          <p:nvPr/>
        </p:nvSpPr>
        <p:spPr>
          <a:xfrm>
            <a:off x="3316031" y="1109520"/>
            <a:ext cx="2301626" cy="1115568"/>
          </a:xfrm>
          <a:prstGeom prst="rect">
            <a:avLst/>
          </a:prstGeom>
          <a:noFill/>
          <a:ln/>
        </p:spPr>
        <p:txBody>
          <a:bodyPr wrap="square" lIns="0" tIns="0" rIns="0" bIns="0" rtlCol="0" anchor="ctr">
            <a:normAutofit fontScale="92500" lnSpcReduction="10000"/>
          </a:bodyPr>
          <a:lstStyle/>
          <a:p>
            <a:r>
              <a:rPr lang="en-IE" sz="1050" b="1"/>
              <a:t>Models trained</a:t>
            </a:r>
          </a:p>
          <a:p>
            <a:r>
              <a:rPr lang="en-IE" sz="1050" b="1"/>
              <a:t>3 architectures benchmarked</a:t>
            </a:r>
          </a:p>
          <a:p>
            <a:endParaRPr lang="en-IE" sz="1050"/>
          </a:p>
          <a:p>
            <a:pPr lvl="0"/>
            <a:r>
              <a:rPr lang="en-IE" sz="1050"/>
              <a:t>YOLO11n </a:t>
            </a:r>
          </a:p>
          <a:p>
            <a:pPr lvl="0"/>
            <a:r>
              <a:rPr lang="en-IE" sz="1050"/>
              <a:t>YOLOX-Tiny </a:t>
            </a:r>
          </a:p>
          <a:p>
            <a:pPr lvl="0"/>
            <a:r>
              <a:rPr lang="en-IE" sz="1050"/>
              <a:t>RF-DETR Small </a:t>
            </a:r>
          </a:p>
          <a:p>
            <a:pPr lvl="0"/>
            <a:r>
              <a:rPr lang="en-IE" sz="1050"/>
              <a:t>Five representative basketball training runs completed</a:t>
            </a:r>
          </a:p>
        </p:txBody>
      </p:sp>
      <p:sp>
        <p:nvSpPr>
          <p:cNvPr id="10" name="Shape 8"/>
          <p:cNvSpPr/>
          <p:nvPr/>
        </p:nvSpPr>
        <p:spPr>
          <a:xfrm flipV="1">
            <a:off x="3316031" y="2263689"/>
            <a:ext cx="2301626" cy="1"/>
          </a:xfrm>
          <a:prstGeom prst="line">
            <a:avLst/>
          </a:prstGeom>
          <a:noFill/>
          <a:ln w="25400">
            <a:solidFill>
              <a:srgbClr val="2AA7A5"/>
            </a:solidFill>
            <a:prstDash val="solid"/>
          </a:ln>
        </p:spPr>
        <p:txBody>
          <a:bodyPr/>
          <a:lstStyle/>
          <a:p>
            <a:endParaRPr lang="en-US"/>
          </a:p>
        </p:txBody>
      </p:sp>
      <p:sp>
        <p:nvSpPr>
          <p:cNvPr id="13" name="Text 11"/>
          <p:cNvSpPr/>
          <p:nvPr/>
        </p:nvSpPr>
        <p:spPr>
          <a:xfrm>
            <a:off x="6217920" y="1152144"/>
            <a:ext cx="1920240" cy="1042416"/>
          </a:xfrm>
          <a:prstGeom prst="rect">
            <a:avLst/>
          </a:prstGeom>
          <a:noFill/>
          <a:ln/>
        </p:spPr>
        <p:txBody>
          <a:bodyPr wrap="square" lIns="0" tIns="0" rIns="0" bIns="0" rtlCol="0" anchor="ctr">
            <a:normAutofit/>
          </a:bodyPr>
          <a:lstStyle/>
          <a:p>
            <a:r>
              <a:rPr lang="en-IE" sz="1050" b="1"/>
              <a:t>Best test mAP50–95</a:t>
            </a:r>
          </a:p>
          <a:p>
            <a:r>
              <a:rPr lang="en-IE" sz="1050" b="1"/>
              <a:t>Basketball-large held-out test</a:t>
            </a:r>
          </a:p>
          <a:p>
            <a:endParaRPr lang="en-IE" sz="1050"/>
          </a:p>
          <a:p>
            <a:pPr lvl="0"/>
            <a:r>
              <a:rPr lang="en-IE" sz="1050"/>
              <a:t>YOLO11n: </a:t>
            </a:r>
            <a:r>
              <a:rPr lang="en-IE" sz="1050" b="1"/>
              <a:t>0.7986</a:t>
            </a:r>
            <a:endParaRPr lang="en-IE" sz="1050"/>
          </a:p>
          <a:p>
            <a:pPr lvl="0"/>
            <a:r>
              <a:rPr lang="en-IE" sz="1050"/>
              <a:t>YOLOX-Tiny: </a:t>
            </a:r>
            <a:r>
              <a:rPr lang="en-IE" sz="1050" b="1"/>
              <a:t>0.7469</a:t>
            </a:r>
            <a:endParaRPr lang="en-IE" sz="1050"/>
          </a:p>
          <a:p>
            <a:pPr lvl="0"/>
            <a:r>
              <a:rPr lang="en-IE" sz="1050"/>
              <a:t>RF-DETR Small: </a:t>
            </a:r>
            <a:r>
              <a:rPr lang="en-IE" sz="1050" b="1"/>
              <a:t>0.8265</a:t>
            </a:r>
            <a:endParaRPr lang="en-IE" sz="1050"/>
          </a:p>
        </p:txBody>
      </p:sp>
      <p:sp>
        <p:nvSpPr>
          <p:cNvPr id="14" name="Shape 12"/>
          <p:cNvSpPr/>
          <p:nvPr/>
        </p:nvSpPr>
        <p:spPr>
          <a:xfrm flipV="1">
            <a:off x="6217920" y="2240278"/>
            <a:ext cx="1920240" cy="18289"/>
          </a:xfrm>
          <a:prstGeom prst="line">
            <a:avLst/>
          </a:prstGeom>
          <a:noFill/>
          <a:ln w="25400">
            <a:solidFill>
              <a:srgbClr val="F2A541"/>
            </a:solidFill>
            <a:prstDash val="solid"/>
          </a:ln>
        </p:spPr>
        <p:txBody>
          <a:bodyPr/>
          <a:lstStyle/>
          <a:p>
            <a:endParaRPr lang="en-US"/>
          </a:p>
        </p:txBody>
      </p:sp>
      <p:sp>
        <p:nvSpPr>
          <p:cNvPr id="15" name="Text 13"/>
          <p:cNvSpPr/>
          <p:nvPr/>
        </p:nvSpPr>
        <p:spPr>
          <a:xfrm>
            <a:off x="645668" y="2722375"/>
            <a:ext cx="4361180" cy="548638"/>
          </a:xfrm>
          <a:prstGeom prst="rect">
            <a:avLst/>
          </a:prstGeom>
          <a:noFill/>
          <a:ln/>
        </p:spPr>
        <p:txBody>
          <a:bodyPr wrap="square" lIns="0" tIns="0" rIns="0" bIns="0" rtlCol="0" anchor="ctr"/>
          <a:lstStyle/>
          <a:p>
            <a:pPr marL="0" indent="0">
              <a:buNone/>
            </a:pPr>
            <a:r>
              <a:rPr lang="en-US" sz="2400" b="1" dirty="0">
                <a:solidFill>
                  <a:srgbClr val="151A23"/>
                </a:solidFill>
              </a:rPr>
              <a:t>Main technical finding so far</a:t>
            </a:r>
            <a:endParaRPr lang="en-US" sz="2400" dirty="0"/>
          </a:p>
        </p:txBody>
      </p:sp>
      <p:sp>
        <p:nvSpPr>
          <p:cNvPr id="16" name="Text 14"/>
          <p:cNvSpPr/>
          <p:nvPr/>
        </p:nvSpPr>
        <p:spPr>
          <a:xfrm>
            <a:off x="658368" y="3310127"/>
            <a:ext cx="5166360" cy="2898637"/>
          </a:xfrm>
          <a:prstGeom prst="rect">
            <a:avLst/>
          </a:prstGeom>
          <a:noFill/>
          <a:ln/>
        </p:spPr>
        <p:txBody>
          <a:bodyPr wrap="square" lIns="381" tIns="381" rIns="381" bIns="381" rtlCol="0" anchor="ctr">
            <a:normAutofit/>
          </a:bodyPr>
          <a:lstStyle/>
          <a:p>
            <a:r>
              <a:rPr lang="en-IE" sz="1400" b="1"/>
              <a:t>Dataset effect:</a:t>
            </a:r>
            <a:r>
              <a:rPr lang="en-IE" sz="1400"/>
              <a:t> Dataset scale and split quality changed the results more than the initial model choice. The larger basketball dataset moved both YOLO11n and YOLOX-Tiny from weak results to strong held-out test performance.</a:t>
            </a:r>
          </a:p>
          <a:p>
            <a:endParaRPr lang="en-IE" sz="1400"/>
          </a:p>
          <a:p>
            <a:r>
              <a:rPr lang="en-IE" sz="1400" b="1"/>
              <a:t>Licensing:</a:t>
            </a:r>
            <a:r>
              <a:rPr lang="en-IE" sz="1400"/>
              <a:t> YOLOX and the RF-DETR core models use the permissive Apache 2.0 licence.</a:t>
            </a:r>
          </a:p>
          <a:p>
            <a:endParaRPr lang="en-IE" sz="1400"/>
          </a:p>
          <a:p>
            <a:r>
              <a:rPr lang="en-IE" sz="1400" b="1"/>
              <a:t>Project activity:</a:t>
            </a:r>
            <a:r>
              <a:rPr lang="en-IE" sz="1400"/>
              <a:t> RF-DETR has a much stronger current development and release cadence. YOLOX remains usable, but upstream maintenance appears limited, increasing its long-term support risk.</a:t>
            </a:r>
          </a:p>
          <a:p>
            <a:pPr marL="0" indent="0">
              <a:buNone/>
            </a:pPr>
            <a:endParaRPr lang="en-US" sz="1400" dirty="0"/>
          </a:p>
        </p:txBody>
      </p:sp>
      <p:sp>
        <p:nvSpPr>
          <p:cNvPr id="17" name="Text 15"/>
          <p:cNvSpPr/>
          <p:nvPr/>
        </p:nvSpPr>
        <p:spPr>
          <a:xfrm>
            <a:off x="7660126" y="3026650"/>
            <a:ext cx="3495554" cy="246887"/>
          </a:xfrm>
          <a:prstGeom prst="rect">
            <a:avLst/>
          </a:prstGeom>
          <a:noFill/>
          <a:ln/>
        </p:spPr>
        <p:txBody>
          <a:bodyPr wrap="square" lIns="0" tIns="0" rIns="0" bIns="0" rtlCol="0" anchor="ctr"/>
          <a:lstStyle/>
          <a:p>
            <a:pPr marL="0" indent="0">
              <a:buNone/>
            </a:pPr>
            <a:r>
              <a:rPr lang="en-US" sz="1200" b="1" dirty="0">
                <a:solidFill>
                  <a:srgbClr val="151A23"/>
                </a:solidFill>
              </a:rPr>
              <a:t>Held-out test mAP50-95: small vs large dataset</a:t>
            </a:r>
            <a:endParaRPr lang="en-US" sz="1200" dirty="0"/>
          </a:p>
        </p:txBody>
      </p:sp>
      <p:graphicFrame>
        <p:nvGraphicFramePr>
          <p:cNvPr id="18" name="Chart 0"/>
          <p:cNvGraphicFramePr/>
          <p:nvPr>
            <p:extLst>
              <p:ext uri="{D42A27DB-BD31-4B8C-83A1-F6EECF244321}">
                <p14:modId xmlns:p14="http://schemas.microsoft.com/office/powerpoint/2010/main" val="279864471"/>
              </p:ext>
            </p:extLst>
          </p:nvPr>
        </p:nvGraphicFramePr>
        <p:xfrm>
          <a:off x="7404094" y="3584425"/>
          <a:ext cx="3751586" cy="26243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Concrete work completed since June</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Completed assets and engineering outputs available from the notebooks.</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03</a:t>
            </a:r>
            <a:endParaRPr lang="en-US" sz="720" dirty="0"/>
          </a:p>
        </p:txBody>
      </p:sp>
      <p:sp>
        <p:nvSpPr>
          <p:cNvPr id="7" name="Text 5"/>
          <p:cNvSpPr/>
          <p:nvPr/>
        </p:nvSpPr>
        <p:spPr>
          <a:xfrm>
            <a:off x="676656" y="1316736"/>
            <a:ext cx="1609344" cy="438912"/>
          </a:xfrm>
          <a:prstGeom prst="rect">
            <a:avLst/>
          </a:prstGeom>
          <a:noFill/>
          <a:ln/>
        </p:spPr>
        <p:txBody>
          <a:bodyPr wrap="square" lIns="0" tIns="0" rIns="0" bIns="0" rtlCol="0" anchor="ctr">
            <a:normAutofit/>
          </a:bodyPr>
          <a:lstStyle/>
          <a:p>
            <a:pPr marL="0" indent="0">
              <a:buNone/>
            </a:pPr>
            <a:r>
              <a:rPr lang="en-US" sz="1000" b="1" dirty="0">
                <a:solidFill>
                  <a:srgbClr val="12213A"/>
                </a:solidFill>
                <a:latin typeface="Aptos" pitchFamily="34" charset="0"/>
                <a:ea typeface="Aptos" pitchFamily="34" charset="-122"/>
                <a:cs typeface="Aptos" pitchFamily="34" charset="-120"/>
              </a:rPr>
              <a:t>Area</a:t>
            </a:r>
            <a:endParaRPr lang="en-US" sz="1000" dirty="0"/>
          </a:p>
        </p:txBody>
      </p:sp>
      <p:sp>
        <p:nvSpPr>
          <p:cNvPr id="8" name="Text 6"/>
          <p:cNvSpPr/>
          <p:nvPr/>
        </p:nvSpPr>
        <p:spPr>
          <a:xfrm>
            <a:off x="2322576" y="1316736"/>
            <a:ext cx="5952744" cy="438912"/>
          </a:xfrm>
          <a:prstGeom prst="rect">
            <a:avLst/>
          </a:prstGeom>
          <a:noFill/>
          <a:ln/>
        </p:spPr>
        <p:txBody>
          <a:bodyPr wrap="square" lIns="0" tIns="0" rIns="0" bIns="0" rtlCol="0" anchor="ctr">
            <a:normAutofit/>
          </a:bodyPr>
          <a:lstStyle/>
          <a:p>
            <a:pPr marL="0" indent="0">
              <a:buNone/>
            </a:pPr>
            <a:r>
              <a:rPr lang="en-US" sz="1000" b="1" dirty="0">
                <a:solidFill>
                  <a:srgbClr val="12213A"/>
                </a:solidFill>
                <a:latin typeface="Aptos" pitchFamily="34" charset="0"/>
                <a:ea typeface="Aptos" pitchFamily="34" charset="-122"/>
                <a:cs typeface="Aptos" pitchFamily="34" charset="-120"/>
              </a:rPr>
              <a:t>Completed work</a:t>
            </a:r>
            <a:endParaRPr lang="en-US" sz="1000" dirty="0"/>
          </a:p>
        </p:txBody>
      </p:sp>
      <p:sp>
        <p:nvSpPr>
          <p:cNvPr id="9" name="Text 7"/>
          <p:cNvSpPr/>
          <p:nvPr/>
        </p:nvSpPr>
        <p:spPr>
          <a:xfrm>
            <a:off x="8311896" y="1316736"/>
            <a:ext cx="3255264" cy="438912"/>
          </a:xfrm>
          <a:prstGeom prst="rect">
            <a:avLst/>
          </a:prstGeom>
          <a:noFill/>
          <a:ln/>
        </p:spPr>
        <p:txBody>
          <a:bodyPr wrap="square" lIns="0" tIns="0" rIns="0" bIns="0" rtlCol="0" anchor="ctr">
            <a:normAutofit/>
          </a:bodyPr>
          <a:lstStyle/>
          <a:p>
            <a:pPr marL="0" indent="0">
              <a:buNone/>
            </a:pPr>
            <a:r>
              <a:rPr lang="en-US" sz="1000" b="1" dirty="0">
                <a:solidFill>
                  <a:srgbClr val="12213A"/>
                </a:solidFill>
                <a:latin typeface="Aptos" pitchFamily="34" charset="0"/>
                <a:ea typeface="Aptos" pitchFamily="34" charset="-122"/>
                <a:cs typeface="Aptos" pitchFamily="34" charset="-120"/>
              </a:rPr>
              <a:t>Current status</a:t>
            </a:r>
            <a:endParaRPr lang="en-US" sz="1000" dirty="0"/>
          </a:p>
        </p:txBody>
      </p:sp>
      <p:sp>
        <p:nvSpPr>
          <p:cNvPr id="10" name="Shape 8"/>
          <p:cNvSpPr/>
          <p:nvPr/>
        </p:nvSpPr>
        <p:spPr>
          <a:xfrm>
            <a:off x="658368" y="1773936"/>
            <a:ext cx="10927080" cy="0"/>
          </a:xfrm>
          <a:prstGeom prst="line">
            <a:avLst/>
          </a:prstGeom>
          <a:noFill/>
          <a:ln w="12700">
            <a:solidFill>
              <a:srgbClr val="12213A"/>
            </a:solidFill>
            <a:prstDash val="solid"/>
          </a:ln>
        </p:spPr>
        <p:txBody>
          <a:bodyPr/>
          <a:lstStyle/>
          <a:p>
            <a:endParaRPr lang="en-US"/>
          </a:p>
        </p:txBody>
      </p:sp>
      <p:sp>
        <p:nvSpPr>
          <p:cNvPr id="11" name="Text 9"/>
          <p:cNvSpPr/>
          <p:nvPr/>
        </p:nvSpPr>
        <p:spPr>
          <a:xfrm>
            <a:off x="676656" y="1828800"/>
            <a:ext cx="16093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Dataset builds</a:t>
            </a:r>
            <a:endParaRPr lang="en-US" sz="1000" dirty="0"/>
          </a:p>
        </p:txBody>
      </p:sp>
      <p:sp>
        <p:nvSpPr>
          <p:cNvPr id="12" name="Text 10"/>
          <p:cNvSpPr/>
          <p:nvPr/>
        </p:nvSpPr>
        <p:spPr>
          <a:xfrm>
            <a:off x="2322576" y="1828800"/>
            <a:ext cx="59527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Small basketball, large basketball, football dataset build</a:t>
            </a:r>
            <a:endParaRPr lang="en-US" sz="1000" dirty="0"/>
          </a:p>
        </p:txBody>
      </p:sp>
      <p:sp>
        <p:nvSpPr>
          <p:cNvPr id="13" name="Text 11"/>
          <p:cNvSpPr/>
          <p:nvPr/>
        </p:nvSpPr>
        <p:spPr>
          <a:xfrm>
            <a:off x="8311896" y="1828800"/>
            <a:ext cx="325526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Reusable COCO/YOLO pipeline</a:t>
            </a:r>
            <a:endParaRPr lang="en-US" sz="1000" dirty="0"/>
          </a:p>
        </p:txBody>
      </p:sp>
      <p:sp>
        <p:nvSpPr>
          <p:cNvPr id="14" name="Shape 12"/>
          <p:cNvSpPr/>
          <p:nvPr/>
        </p:nvSpPr>
        <p:spPr>
          <a:xfrm>
            <a:off x="658368" y="2286000"/>
            <a:ext cx="10927080" cy="0"/>
          </a:xfrm>
          <a:prstGeom prst="line">
            <a:avLst/>
          </a:prstGeom>
          <a:noFill/>
          <a:ln w="5080">
            <a:solidFill>
              <a:srgbClr val="D8DEE9"/>
            </a:solidFill>
            <a:prstDash val="solid"/>
          </a:ln>
        </p:spPr>
        <p:txBody>
          <a:bodyPr/>
          <a:lstStyle/>
          <a:p>
            <a:endParaRPr lang="en-US"/>
          </a:p>
        </p:txBody>
      </p:sp>
      <p:sp>
        <p:nvSpPr>
          <p:cNvPr id="15" name="Text 13"/>
          <p:cNvSpPr/>
          <p:nvPr/>
        </p:nvSpPr>
        <p:spPr>
          <a:xfrm>
            <a:off x="676656" y="2340864"/>
            <a:ext cx="16093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Data quality</a:t>
            </a:r>
            <a:endParaRPr lang="en-US" sz="1000" dirty="0"/>
          </a:p>
        </p:txBody>
      </p:sp>
      <p:sp>
        <p:nvSpPr>
          <p:cNvPr id="16" name="Text 14"/>
          <p:cNvSpPr/>
          <p:nvPr/>
        </p:nvSpPr>
        <p:spPr>
          <a:xfrm>
            <a:off x="2322576" y="2340864"/>
            <a:ext cx="59527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Class normalization, background images, duplicate checks, source grouping</a:t>
            </a:r>
            <a:endParaRPr lang="en-US" sz="1000" dirty="0"/>
          </a:p>
        </p:txBody>
      </p:sp>
      <p:sp>
        <p:nvSpPr>
          <p:cNvPr id="17" name="Text 15"/>
          <p:cNvSpPr/>
          <p:nvPr/>
        </p:nvSpPr>
        <p:spPr>
          <a:xfrm>
            <a:off x="8311896" y="2340864"/>
            <a:ext cx="325526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Traceable manifests</a:t>
            </a:r>
            <a:endParaRPr lang="en-US" sz="1000" dirty="0"/>
          </a:p>
        </p:txBody>
      </p:sp>
      <p:sp>
        <p:nvSpPr>
          <p:cNvPr id="18" name="Shape 16"/>
          <p:cNvSpPr/>
          <p:nvPr/>
        </p:nvSpPr>
        <p:spPr>
          <a:xfrm>
            <a:off x="658368" y="2798064"/>
            <a:ext cx="10927080" cy="0"/>
          </a:xfrm>
          <a:prstGeom prst="line">
            <a:avLst/>
          </a:prstGeom>
          <a:noFill/>
          <a:ln w="5080">
            <a:solidFill>
              <a:srgbClr val="D8DEE9"/>
            </a:solidFill>
            <a:prstDash val="solid"/>
          </a:ln>
        </p:spPr>
        <p:txBody>
          <a:bodyPr/>
          <a:lstStyle/>
          <a:p>
            <a:endParaRPr lang="en-US"/>
          </a:p>
        </p:txBody>
      </p:sp>
      <p:sp>
        <p:nvSpPr>
          <p:cNvPr id="19" name="Text 17"/>
          <p:cNvSpPr/>
          <p:nvPr/>
        </p:nvSpPr>
        <p:spPr>
          <a:xfrm>
            <a:off x="676656" y="2852928"/>
            <a:ext cx="16093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YOLO11n</a:t>
            </a:r>
            <a:endParaRPr lang="en-US" sz="1000" dirty="0"/>
          </a:p>
        </p:txBody>
      </p:sp>
      <p:sp>
        <p:nvSpPr>
          <p:cNvPr id="20" name="Text 18"/>
          <p:cNvSpPr/>
          <p:nvPr/>
        </p:nvSpPr>
        <p:spPr>
          <a:xfrm>
            <a:off x="2322576" y="2852928"/>
            <a:ext cx="59527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Fine-tuned/evaluated on small + large basketball</a:t>
            </a:r>
            <a:endParaRPr lang="en-US" sz="1000" dirty="0"/>
          </a:p>
        </p:txBody>
      </p:sp>
      <p:sp>
        <p:nvSpPr>
          <p:cNvPr id="21" name="Text 19"/>
          <p:cNvSpPr/>
          <p:nvPr/>
        </p:nvSpPr>
        <p:spPr>
          <a:xfrm>
            <a:off x="8311896" y="2852928"/>
            <a:ext cx="325526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Benchmark only due to licence</a:t>
            </a:r>
            <a:endParaRPr lang="en-US" sz="1000" dirty="0"/>
          </a:p>
        </p:txBody>
      </p:sp>
      <p:sp>
        <p:nvSpPr>
          <p:cNvPr id="22" name="Shape 20"/>
          <p:cNvSpPr/>
          <p:nvPr/>
        </p:nvSpPr>
        <p:spPr>
          <a:xfrm>
            <a:off x="658368" y="3310128"/>
            <a:ext cx="10927080" cy="0"/>
          </a:xfrm>
          <a:prstGeom prst="line">
            <a:avLst/>
          </a:prstGeom>
          <a:noFill/>
          <a:ln w="5080">
            <a:solidFill>
              <a:srgbClr val="D8DEE9"/>
            </a:solidFill>
            <a:prstDash val="solid"/>
          </a:ln>
        </p:spPr>
        <p:txBody>
          <a:bodyPr/>
          <a:lstStyle/>
          <a:p>
            <a:endParaRPr lang="en-US"/>
          </a:p>
        </p:txBody>
      </p:sp>
      <p:sp>
        <p:nvSpPr>
          <p:cNvPr id="23" name="Text 21"/>
          <p:cNvSpPr/>
          <p:nvPr/>
        </p:nvSpPr>
        <p:spPr>
          <a:xfrm>
            <a:off x="676656" y="3364992"/>
            <a:ext cx="16093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YOLOX-Tiny</a:t>
            </a:r>
            <a:endParaRPr lang="en-US" sz="1000" dirty="0"/>
          </a:p>
        </p:txBody>
      </p:sp>
      <p:sp>
        <p:nvSpPr>
          <p:cNvPr id="24" name="Text 22"/>
          <p:cNvSpPr/>
          <p:nvPr/>
        </p:nvSpPr>
        <p:spPr>
          <a:xfrm>
            <a:off x="2322576" y="3364992"/>
            <a:ext cx="59527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Fine-tuned/evaluated on small + large basketball</a:t>
            </a:r>
            <a:endParaRPr lang="en-US" sz="1000" dirty="0"/>
          </a:p>
        </p:txBody>
      </p:sp>
      <p:sp>
        <p:nvSpPr>
          <p:cNvPr id="25" name="Text 23"/>
          <p:cNvSpPr/>
          <p:nvPr/>
        </p:nvSpPr>
        <p:spPr>
          <a:xfrm>
            <a:off x="8311896" y="3364992"/>
            <a:ext cx="325526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Permissive fallback</a:t>
            </a:r>
            <a:endParaRPr lang="en-US" sz="1000" dirty="0"/>
          </a:p>
        </p:txBody>
      </p:sp>
      <p:sp>
        <p:nvSpPr>
          <p:cNvPr id="26" name="Shape 24"/>
          <p:cNvSpPr/>
          <p:nvPr/>
        </p:nvSpPr>
        <p:spPr>
          <a:xfrm>
            <a:off x="658368" y="3822192"/>
            <a:ext cx="10927080" cy="0"/>
          </a:xfrm>
          <a:prstGeom prst="line">
            <a:avLst/>
          </a:prstGeom>
          <a:noFill/>
          <a:ln w="5080">
            <a:solidFill>
              <a:srgbClr val="D8DEE9"/>
            </a:solidFill>
            <a:prstDash val="solid"/>
          </a:ln>
        </p:spPr>
        <p:txBody>
          <a:bodyPr/>
          <a:lstStyle/>
          <a:p>
            <a:endParaRPr lang="en-US"/>
          </a:p>
        </p:txBody>
      </p:sp>
      <p:sp>
        <p:nvSpPr>
          <p:cNvPr id="27" name="Text 25"/>
          <p:cNvSpPr/>
          <p:nvPr/>
        </p:nvSpPr>
        <p:spPr>
          <a:xfrm>
            <a:off x="676656" y="3877056"/>
            <a:ext cx="16093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RF-DETR Small</a:t>
            </a:r>
            <a:endParaRPr lang="en-US" sz="1000" dirty="0"/>
          </a:p>
        </p:txBody>
      </p:sp>
      <p:sp>
        <p:nvSpPr>
          <p:cNvPr id="28" name="Text 26"/>
          <p:cNvSpPr/>
          <p:nvPr/>
        </p:nvSpPr>
        <p:spPr>
          <a:xfrm>
            <a:off x="2322576" y="3877056"/>
            <a:ext cx="59527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Fine-tuned and evaluated on large basketball dataset</a:t>
            </a:r>
            <a:endParaRPr lang="en-US" sz="1000" dirty="0"/>
          </a:p>
        </p:txBody>
      </p:sp>
      <p:sp>
        <p:nvSpPr>
          <p:cNvPr id="29" name="Text 27"/>
          <p:cNvSpPr/>
          <p:nvPr/>
        </p:nvSpPr>
        <p:spPr>
          <a:xfrm>
            <a:off x="8311896" y="3877056"/>
            <a:ext cx="3255264" cy="438912"/>
          </a:xfrm>
          <a:prstGeom prst="rect">
            <a:avLst/>
          </a:prstGeom>
          <a:noFill/>
          <a:ln/>
        </p:spPr>
        <p:txBody>
          <a:bodyPr wrap="square" lIns="0" tIns="0" rIns="0" bIns="0" rtlCol="0" anchor="ctr">
            <a:normAutofit/>
          </a:bodyPr>
          <a:lstStyle/>
          <a:p>
            <a:pPr marL="0" indent="0">
              <a:buNone/>
            </a:pPr>
            <a:r>
              <a:rPr lang="en-US" sz="1000">
                <a:solidFill>
                  <a:srgbClr val="151A23"/>
                </a:solidFill>
                <a:latin typeface="Aptos" pitchFamily="34" charset="0"/>
                <a:ea typeface="Aptos" pitchFamily="34" charset="-122"/>
                <a:cs typeface="Aptos" pitchFamily="34" charset="-120"/>
              </a:rPr>
              <a:t>best epoch 27; Todo: evaluation of inference</a:t>
            </a:r>
            <a:endParaRPr lang="en-US" sz="1000" dirty="0"/>
          </a:p>
        </p:txBody>
      </p:sp>
      <p:sp>
        <p:nvSpPr>
          <p:cNvPr id="30" name="Shape 28"/>
          <p:cNvSpPr/>
          <p:nvPr/>
        </p:nvSpPr>
        <p:spPr>
          <a:xfrm>
            <a:off x="658368" y="4334256"/>
            <a:ext cx="10927080" cy="0"/>
          </a:xfrm>
          <a:prstGeom prst="line">
            <a:avLst/>
          </a:prstGeom>
          <a:noFill/>
          <a:ln w="5080">
            <a:solidFill>
              <a:srgbClr val="D8DEE9"/>
            </a:solidFill>
            <a:prstDash val="solid"/>
          </a:ln>
        </p:spPr>
        <p:txBody>
          <a:bodyPr/>
          <a:lstStyle/>
          <a:p>
            <a:endParaRPr lang="en-US"/>
          </a:p>
        </p:txBody>
      </p:sp>
      <p:sp>
        <p:nvSpPr>
          <p:cNvPr id="31" name="Text 29"/>
          <p:cNvSpPr/>
          <p:nvPr/>
        </p:nvSpPr>
        <p:spPr>
          <a:xfrm>
            <a:off x="676656" y="4389120"/>
            <a:ext cx="16093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Compute setup</a:t>
            </a:r>
            <a:endParaRPr lang="en-US" sz="1000" dirty="0"/>
          </a:p>
        </p:txBody>
      </p:sp>
      <p:sp>
        <p:nvSpPr>
          <p:cNvPr id="32" name="Text 30"/>
          <p:cNvSpPr/>
          <p:nvPr/>
        </p:nvSpPr>
        <p:spPr>
          <a:xfrm>
            <a:off x="2322576" y="4389120"/>
            <a:ext cx="595274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MacBook dev </a:t>
            </a:r>
            <a:r>
              <a:rPr lang="en-US" sz="1000">
                <a:solidFill>
                  <a:srgbClr val="151A23"/>
                </a:solidFill>
                <a:latin typeface="Aptos" pitchFamily="34" charset="0"/>
                <a:ea typeface="Aptos" pitchFamily="34" charset="-122"/>
                <a:cs typeface="Aptos" pitchFamily="34" charset="-120"/>
              </a:rPr>
              <a:t>+ Google Colab + Renku </a:t>
            </a:r>
            <a:r>
              <a:rPr lang="en-US" sz="1000" dirty="0">
                <a:solidFill>
                  <a:srgbClr val="151A23"/>
                </a:solidFill>
                <a:latin typeface="Aptos" pitchFamily="34" charset="0"/>
                <a:ea typeface="Aptos" pitchFamily="34" charset="-122"/>
                <a:cs typeface="Aptos" pitchFamily="34" charset="-120"/>
              </a:rPr>
              <a:t>CUDA </a:t>
            </a:r>
            <a:r>
              <a:rPr lang="en-US" sz="1000">
                <a:solidFill>
                  <a:srgbClr val="151A23"/>
                </a:solidFill>
                <a:latin typeface="Aptos" pitchFamily="34" charset="0"/>
                <a:ea typeface="Aptos" pitchFamily="34" charset="-122"/>
                <a:cs typeface="Aptos" pitchFamily="34" charset="-120"/>
              </a:rPr>
              <a:t>GPU Cluster</a:t>
            </a:r>
            <a:endParaRPr lang="en-US" sz="1000" dirty="0"/>
          </a:p>
        </p:txBody>
      </p:sp>
      <p:sp>
        <p:nvSpPr>
          <p:cNvPr id="33" name="Text 31"/>
          <p:cNvSpPr/>
          <p:nvPr/>
        </p:nvSpPr>
        <p:spPr>
          <a:xfrm>
            <a:off x="8311896" y="4389120"/>
            <a:ext cx="3255264" cy="438912"/>
          </a:xfrm>
          <a:prstGeom prst="rect">
            <a:avLst/>
          </a:prstGeom>
          <a:noFill/>
          <a:ln/>
        </p:spPr>
        <p:txBody>
          <a:bodyPr wrap="square" lIns="0" tIns="0" rIns="0" bIns="0" rtlCol="0" anchor="ctr">
            <a:normAutofit/>
          </a:bodyPr>
          <a:lstStyle/>
          <a:p>
            <a:pPr marL="0" indent="0">
              <a:buNone/>
            </a:pPr>
            <a:r>
              <a:rPr lang="en-US" sz="1000" dirty="0">
                <a:solidFill>
                  <a:srgbClr val="151A23"/>
                </a:solidFill>
                <a:latin typeface="Aptos" pitchFamily="34" charset="0"/>
                <a:ea typeface="Aptos" pitchFamily="34" charset="-122"/>
                <a:cs typeface="Aptos" pitchFamily="34" charset="-120"/>
              </a:rPr>
              <a:t>GPU run reproducible</a:t>
            </a:r>
            <a:endParaRPr lang="en-US" sz="1000" dirty="0"/>
          </a:p>
        </p:txBody>
      </p:sp>
      <p:sp>
        <p:nvSpPr>
          <p:cNvPr id="34" name="Shape 32"/>
          <p:cNvSpPr/>
          <p:nvPr/>
        </p:nvSpPr>
        <p:spPr>
          <a:xfrm>
            <a:off x="658368" y="4846320"/>
            <a:ext cx="10927080" cy="0"/>
          </a:xfrm>
          <a:prstGeom prst="line">
            <a:avLst/>
          </a:prstGeom>
          <a:noFill/>
          <a:ln w="5080">
            <a:solidFill>
              <a:srgbClr val="D8DEE9"/>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Dataset assets built</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Priority-1 basketball and football use public pre-labelled sources; no new auto- or manual labelling yet.</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04</a:t>
            </a:r>
            <a:endParaRPr lang="en-US" sz="720" dirty="0"/>
          </a:p>
        </p:txBody>
      </p:sp>
      <p:sp>
        <p:nvSpPr>
          <p:cNvPr id="7" name="Text 5"/>
          <p:cNvSpPr/>
          <p:nvPr/>
        </p:nvSpPr>
        <p:spPr>
          <a:xfrm>
            <a:off x="585216" y="1216152"/>
            <a:ext cx="1380744" cy="429768"/>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Dataset</a:t>
            </a:r>
            <a:endParaRPr lang="en-US" sz="850" dirty="0"/>
          </a:p>
        </p:txBody>
      </p:sp>
      <p:sp>
        <p:nvSpPr>
          <p:cNvPr id="8" name="Text 6"/>
          <p:cNvSpPr/>
          <p:nvPr/>
        </p:nvSpPr>
        <p:spPr>
          <a:xfrm>
            <a:off x="2002536" y="1216152"/>
            <a:ext cx="2478024" cy="429768"/>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Source handling</a:t>
            </a:r>
            <a:endParaRPr lang="en-US" sz="850" dirty="0"/>
          </a:p>
        </p:txBody>
      </p:sp>
      <p:sp>
        <p:nvSpPr>
          <p:cNvPr id="9" name="Text 7"/>
          <p:cNvSpPr/>
          <p:nvPr/>
        </p:nvSpPr>
        <p:spPr>
          <a:xfrm>
            <a:off x="4517136" y="1216152"/>
            <a:ext cx="877824" cy="429768"/>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Train</a:t>
            </a:r>
            <a:endParaRPr lang="en-US" sz="850" dirty="0"/>
          </a:p>
        </p:txBody>
      </p:sp>
      <p:sp>
        <p:nvSpPr>
          <p:cNvPr id="10" name="Text 8"/>
          <p:cNvSpPr/>
          <p:nvPr/>
        </p:nvSpPr>
        <p:spPr>
          <a:xfrm>
            <a:off x="5431536" y="1216152"/>
            <a:ext cx="786384" cy="429768"/>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Val</a:t>
            </a:r>
            <a:endParaRPr lang="en-US" sz="850" dirty="0"/>
          </a:p>
        </p:txBody>
      </p:sp>
      <p:sp>
        <p:nvSpPr>
          <p:cNvPr id="11" name="Text 9"/>
          <p:cNvSpPr/>
          <p:nvPr/>
        </p:nvSpPr>
        <p:spPr>
          <a:xfrm>
            <a:off x="6254496" y="1216152"/>
            <a:ext cx="786384" cy="429768"/>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Test</a:t>
            </a:r>
            <a:endParaRPr lang="en-US" sz="850" dirty="0"/>
          </a:p>
        </p:txBody>
      </p:sp>
      <p:sp>
        <p:nvSpPr>
          <p:cNvPr id="12" name="Text 10"/>
          <p:cNvSpPr/>
          <p:nvPr/>
        </p:nvSpPr>
        <p:spPr>
          <a:xfrm>
            <a:off x="7077456" y="1216152"/>
            <a:ext cx="832104" cy="429768"/>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Total</a:t>
            </a:r>
            <a:endParaRPr lang="en-US" sz="850" dirty="0"/>
          </a:p>
        </p:txBody>
      </p:sp>
      <p:sp>
        <p:nvSpPr>
          <p:cNvPr id="13" name="Text 11"/>
          <p:cNvSpPr/>
          <p:nvPr/>
        </p:nvSpPr>
        <p:spPr>
          <a:xfrm>
            <a:off x="7946136" y="1216152"/>
            <a:ext cx="2706624" cy="429768"/>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Notes</a:t>
            </a:r>
            <a:endParaRPr lang="en-US" sz="850" dirty="0"/>
          </a:p>
        </p:txBody>
      </p:sp>
      <p:sp>
        <p:nvSpPr>
          <p:cNvPr id="14" name="Shape 12"/>
          <p:cNvSpPr/>
          <p:nvPr/>
        </p:nvSpPr>
        <p:spPr>
          <a:xfrm>
            <a:off x="566928" y="1664208"/>
            <a:ext cx="11018520" cy="0"/>
          </a:xfrm>
          <a:prstGeom prst="line">
            <a:avLst/>
          </a:prstGeom>
          <a:noFill/>
          <a:ln w="12700">
            <a:solidFill>
              <a:srgbClr val="12213A"/>
            </a:solidFill>
            <a:prstDash val="solid"/>
          </a:ln>
        </p:spPr>
        <p:txBody>
          <a:bodyPr/>
          <a:lstStyle/>
          <a:p>
            <a:endParaRPr lang="en-US"/>
          </a:p>
        </p:txBody>
      </p:sp>
      <p:sp>
        <p:nvSpPr>
          <p:cNvPr id="15" name="Text 13"/>
          <p:cNvSpPr/>
          <p:nvPr/>
        </p:nvSpPr>
        <p:spPr>
          <a:xfrm>
            <a:off x="585216" y="1719072"/>
            <a:ext cx="13807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Basketball-small</a:t>
            </a:r>
            <a:endParaRPr lang="en-US" sz="880" dirty="0"/>
          </a:p>
        </p:txBody>
      </p:sp>
      <p:sp>
        <p:nvSpPr>
          <p:cNvPr id="16" name="Text 14"/>
          <p:cNvSpPr/>
          <p:nvPr/>
        </p:nvSpPr>
        <p:spPr>
          <a:xfrm>
            <a:off x="2002536" y="1719072"/>
            <a:ext cx="24780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Public Roboflow + negatives</a:t>
            </a:r>
            <a:endParaRPr lang="en-US" sz="880" dirty="0"/>
          </a:p>
        </p:txBody>
      </p:sp>
      <p:sp>
        <p:nvSpPr>
          <p:cNvPr id="17" name="Text 15"/>
          <p:cNvSpPr/>
          <p:nvPr/>
        </p:nvSpPr>
        <p:spPr>
          <a:xfrm>
            <a:off x="4517136" y="1719072"/>
            <a:ext cx="8778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105</a:t>
            </a:r>
            <a:endParaRPr lang="en-US" sz="880" dirty="0"/>
          </a:p>
        </p:txBody>
      </p:sp>
      <p:sp>
        <p:nvSpPr>
          <p:cNvPr id="18" name="Text 16"/>
          <p:cNvSpPr/>
          <p:nvPr/>
        </p:nvSpPr>
        <p:spPr>
          <a:xfrm>
            <a:off x="5431536" y="1719072"/>
            <a:ext cx="78638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22</a:t>
            </a:r>
            <a:endParaRPr lang="en-US" sz="880" dirty="0"/>
          </a:p>
        </p:txBody>
      </p:sp>
      <p:sp>
        <p:nvSpPr>
          <p:cNvPr id="19" name="Text 17"/>
          <p:cNvSpPr/>
          <p:nvPr/>
        </p:nvSpPr>
        <p:spPr>
          <a:xfrm>
            <a:off x="6254496" y="1719072"/>
            <a:ext cx="78638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23</a:t>
            </a:r>
            <a:endParaRPr lang="en-US" sz="880" dirty="0"/>
          </a:p>
        </p:txBody>
      </p:sp>
      <p:sp>
        <p:nvSpPr>
          <p:cNvPr id="20" name="Text 18"/>
          <p:cNvSpPr/>
          <p:nvPr/>
        </p:nvSpPr>
        <p:spPr>
          <a:xfrm>
            <a:off x="7077456" y="1719072"/>
            <a:ext cx="83210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150</a:t>
            </a:r>
            <a:endParaRPr lang="en-US" sz="880" dirty="0"/>
          </a:p>
        </p:txBody>
      </p:sp>
      <p:sp>
        <p:nvSpPr>
          <p:cNvPr id="21" name="Text 19"/>
          <p:cNvSpPr/>
          <p:nvPr/>
        </p:nvSpPr>
        <p:spPr>
          <a:xfrm>
            <a:off x="7946136" y="1719072"/>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Pipeline validation only</a:t>
            </a:r>
            <a:endParaRPr lang="en-US" sz="880" dirty="0"/>
          </a:p>
        </p:txBody>
      </p:sp>
      <p:sp>
        <p:nvSpPr>
          <p:cNvPr id="22" name="Shape 20"/>
          <p:cNvSpPr/>
          <p:nvPr/>
        </p:nvSpPr>
        <p:spPr>
          <a:xfrm>
            <a:off x="566928" y="2167128"/>
            <a:ext cx="11018520" cy="0"/>
          </a:xfrm>
          <a:prstGeom prst="line">
            <a:avLst/>
          </a:prstGeom>
          <a:noFill/>
          <a:ln w="5080">
            <a:solidFill>
              <a:srgbClr val="D8DEE9"/>
            </a:solidFill>
            <a:prstDash val="solid"/>
          </a:ln>
        </p:spPr>
        <p:txBody>
          <a:bodyPr/>
          <a:lstStyle/>
          <a:p>
            <a:endParaRPr lang="en-US"/>
          </a:p>
        </p:txBody>
      </p:sp>
      <p:sp>
        <p:nvSpPr>
          <p:cNvPr id="23" name="Text 21"/>
          <p:cNvSpPr/>
          <p:nvPr/>
        </p:nvSpPr>
        <p:spPr>
          <a:xfrm>
            <a:off x="585216" y="2221992"/>
            <a:ext cx="13807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Basketball-large</a:t>
            </a:r>
            <a:endParaRPr lang="en-US" sz="880" dirty="0"/>
          </a:p>
        </p:txBody>
      </p:sp>
      <p:sp>
        <p:nvSpPr>
          <p:cNvPr id="24" name="Text 22"/>
          <p:cNvSpPr/>
          <p:nvPr/>
        </p:nvSpPr>
        <p:spPr>
          <a:xfrm>
            <a:off x="2002536" y="2221992"/>
            <a:ext cx="24780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3 basketball sources + tennis negatives</a:t>
            </a:r>
            <a:endParaRPr lang="en-US" sz="880" dirty="0"/>
          </a:p>
        </p:txBody>
      </p:sp>
      <p:sp>
        <p:nvSpPr>
          <p:cNvPr id="25" name="Text 23"/>
          <p:cNvSpPr/>
          <p:nvPr/>
        </p:nvSpPr>
        <p:spPr>
          <a:xfrm>
            <a:off x="4517136" y="2221992"/>
            <a:ext cx="8778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11,501</a:t>
            </a:r>
            <a:endParaRPr lang="en-US" sz="880" dirty="0"/>
          </a:p>
        </p:txBody>
      </p:sp>
      <p:sp>
        <p:nvSpPr>
          <p:cNvPr id="26" name="Text 24"/>
          <p:cNvSpPr/>
          <p:nvPr/>
        </p:nvSpPr>
        <p:spPr>
          <a:xfrm>
            <a:off x="5431536" y="2221992"/>
            <a:ext cx="78638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1,156</a:t>
            </a:r>
            <a:endParaRPr lang="en-US" sz="880" dirty="0"/>
          </a:p>
        </p:txBody>
      </p:sp>
      <p:sp>
        <p:nvSpPr>
          <p:cNvPr id="27" name="Text 25"/>
          <p:cNvSpPr/>
          <p:nvPr/>
        </p:nvSpPr>
        <p:spPr>
          <a:xfrm>
            <a:off x="6254496" y="2221992"/>
            <a:ext cx="78638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1,395</a:t>
            </a:r>
            <a:endParaRPr lang="en-US" sz="880" dirty="0"/>
          </a:p>
        </p:txBody>
      </p:sp>
      <p:sp>
        <p:nvSpPr>
          <p:cNvPr id="28" name="Text 26"/>
          <p:cNvSpPr/>
          <p:nvPr/>
        </p:nvSpPr>
        <p:spPr>
          <a:xfrm>
            <a:off x="7077456" y="2221992"/>
            <a:ext cx="83210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14,052</a:t>
            </a:r>
            <a:endParaRPr lang="en-US" sz="880" dirty="0"/>
          </a:p>
        </p:txBody>
      </p:sp>
      <p:sp>
        <p:nvSpPr>
          <p:cNvPr id="29" name="Text 27"/>
          <p:cNvSpPr/>
          <p:nvPr/>
        </p:nvSpPr>
        <p:spPr>
          <a:xfrm>
            <a:off x="7946136" y="2221992"/>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30% background in each split</a:t>
            </a:r>
            <a:endParaRPr lang="en-US" sz="880" dirty="0"/>
          </a:p>
        </p:txBody>
      </p:sp>
      <p:sp>
        <p:nvSpPr>
          <p:cNvPr id="30" name="Shape 28"/>
          <p:cNvSpPr/>
          <p:nvPr/>
        </p:nvSpPr>
        <p:spPr>
          <a:xfrm>
            <a:off x="566928" y="2670048"/>
            <a:ext cx="11018520" cy="0"/>
          </a:xfrm>
          <a:prstGeom prst="line">
            <a:avLst/>
          </a:prstGeom>
          <a:noFill/>
          <a:ln w="5080">
            <a:solidFill>
              <a:srgbClr val="D8DEE9"/>
            </a:solidFill>
            <a:prstDash val="solid"/>
          </a:ln>
        </p:spPr>
        <p:txBody>
          <a:bodyPr/>
          <a:lstStyle/>
          <a:p>
            <a:endParaRPr lang="en-US"/>
          </a:p>
        </p:txBody>
      </p:sp>
      <p:sp>
        <p:nvSpPr>
          <p:cNvPr id="31" name="Text 29"/>
          <p:cNvSpPr/>
          <p:nvPr/>
        </p:nvSpPr>
        <p:spPr>
          <a:xfrm>
            <a:off x="585216" y="2724912"/>
            <a:ext cx="13807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Football</a:t>
            </a:r>
            <a:endParaRPr lang="en-US" sz="880" dirty="0"/>
          </a:p>
        </p:txBody>
      </p:sp>
      <p:sp>
        <p:nvSpPr>
          <p:cNvPr id="32" name="Text 30"/>
          <p:cNvSpPr/>
          <p:nvPr/>
        </p:nvSpPr>
        <p:spPr>
          <a:xfrm>
            <a:off x="2002536" y="2724912"/>
            <a:ext cx="24780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12 Roboflow sources, grouped by source dataset</a:t>
            </a:r>
            <a:endParaRPr lang="en-US" sz="880" dirty="0"/>
          </a:p>
        </p:txBody>
      </p:sp>
      <p:sp>
        <p:nvSpPr>
          <p:cNvPr id="33" name="Text 31"/>
          <p:cNvSpPr/>
          <p:nvPr/>
        </p:nvSpPr>
        <p:spPr>
          <a:xfrm>
            <a:off x="4517136" y="2724912"/>
            <a:ext cx="8778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3,529</a:t>
            </a:r>
            <a:endParaRPr lang="en-US" sz="880" dirty="0"/>
          </a:p>
        </p:txBody>
      </p:sp>
      <p:sp>
        <p:nvSpPr>
          <p:cNvPr id="34" name="Text 32"/>
          <p:cNvSpPr/>
          <p:nvPr/>
        </p:nvSpPr>
        <p:spPr>
          <a:xfrm>
            <a:off x="5431536" y="2724912"/>
            <a:ext cx="78638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718</a:t>
            </a:r>
            <a:endParaRPr lang="en-US" sz="880" dirty="0"/>
          </a:p>
        </p:txBody>
      </p:sp>
      <p:sp>
        <p:nvSpPr>
          <p:cNvPr id="35" name="Text 33"/>
          <p:cNvSpPr/>
          <p:nvPr/>
        </p:nvSpPr>
        <p:spPr>
          <a:xfrm>
            <a:off x="6254496" y="2724912"/>
            <a:ext cx="78638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785</a:t>
            </a:r>
            <a:endParaRPr lang="en-US" sz="880" dirty="0"/>
          </a:p>
        </p:txBody>
      </p:sp>
      <p:sp>
        <p:nvSpPr>
          <p:cNvPr id="36" name="Text 34"/>
          <p:cNvSpPr/>
          <p:nvPr/>
        </p:nvSpPr>
        <p:spPr>
          <a:xfrm>
            <a:off x="7077456" y="2724912"/>
            <a:ext cx="83210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5,032</a:t>
            </a:r>
            <a:endParaRPr lang="en-US" sz="880" dirty="0"/>
          </a:p>
        </p:txBody>
      </p:sp>
      <p:sp>
        <p:nvSpPr>
          <p:cNvPr id="37" name="Text 35"/>
          <p:cNvSpPr/>
          <p:nvPr/>
        </p:nvSpPr>
        <p:spPr>
          <a:xfrm>
            <a:off x="7946136" y="2724912"/>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COCO + YOLO export validated</a:t>
            </a:r>
            <a:endParaRPr lang="en-US" sz="880" dirty="0"/>
          </a:p>
        </p:txBody>
      </p:sp>
      <p:sp>
        <p:nvSpPr>
          <p:cNvPr id="38" name="Shape 36"/>
          <p:cNvSpPr/>
          <p:nvPr/>
        </p:nvSpPr>
        <p:spPr>
          <a:xfrm>
            <a:off x="566928" y="3172968"/>
            <a:ext cx="11018520" cy="0"/>
          </a:xfrm>
          <a:prstGeom prst="line">
            <a:avLst/>
          </a:prstGeom>
          <a:noFill/>
          <a:ln w="5080">
            <a:solidFill>
              <a:srgbClr val="D8DEE9"/>
            </a:solidFill>
            <a:prstDash val="solid"/>
          </a:ln>
        </p:spPr>
        <p:txBody>
          <a:bodyPr/>
          <a:lstStyle/>
          <a:p>
            <a:endParaRPr lang="en-US"/>
          </a:p>
        </p:txBody>
      </p:sp>
      <p:sp>
        <p:nvSpPr>
          <p:cNvPr id="39" name="Text 37"/>
          <p:cNvSpPr/>
          <p:nvPr/>
        </p:nvSpPr>
        <p:spPr>
          <a:xfrm>
            <a:off x="658368" y="3611880"/>
            <a:ext cx="2926080" cy="228600"/>
          </a:xfrm>
          <a:prstGeom prst="rect">
            <a:avLst/>
          </a:prstGeom>
          <a:noFill/>
          <a:ln/>
        </p:spPr>
        <p:txBody>
          <a:bodyPr wrap="square" lIns="0" tIns="0" rIns="0" bIns="0" rtlCol="0" anchor="ctr"/>
          <a:lstStyle/>
          <a:p>
            <a:pPr marL="0" indent="0">
              <a:buNone/>
            </a:pPr>
            <a:r>
              <a:rPr lang="en-US" sz="1300" b="1" dirty="0">
                <a:solidFill>
                  <a:srgbClr val="151A23"/>
                </a:solidFill>
              </a:rPr>
              <a:t>Dataset build logic</a:t>
            </a:r>
            <a:endParaRPr lang="en-US" sz="1300" dirty="0"/>
          </a:p>
        </p:txBody>
      </p:sp>
      <p:sp>
        <p:nvSpPr>
          <p:cNvPr id="40" name="Text 38"/>
          <p:cNvSpPr/>
          <p:nvPr/>
        </p:nvSpPr>
        <p:spPr>
          <a:xfrm>
            <a:off x="676656" y="4032504"/>
            <a:ext cx="374904" cy="292608"/>
          </a:xfrm>
          <a:prstGeom prst="rect">
            <a:avLst/>
          </a:prstGeom>
          <a:noFill/>
          <a:ln/>
        </p:spPr>
        <p:txBody>
          <a:bodyPr wrap="square" lIns="0" tIns="0" rIns="0" bIns="0" rtlCol="0" anchor="ctr">
            <a:normAutofit/>
          </a:bodyPr>
          <a:lstStyle/>
          <a:p>
            <a:pPr marL="0" indent="0">
              <a:buNone/>
            </a:pPr>
            <a:r>
              <a:rPr lang="en-US" sz="880" b="1" dirty="0">
                <a:solidFill>
                  <a:srgbClr val="12213A"/>
                </a:solidFill>
                <a:latin typeface="Aptos" pitchFamily="34" charset="0"/>
                <a:ea typeface="Aptos" pitchFamily="34" charset="-122"/>
                <a:cs typeface="Aptos" pitchFamily="34" charset="-120"/>
              </a:rPr>
              <a:t>1</a:t>
            </a:r>
            <a:endParaRPr lang="en-US" sz="880" dirty="0"/>
          </a:p>
        </p:txBody>
      </p:sp>
      <p:sp>
        <p:nvSpPr>
          <p:cNvPr id="41" name="Text 39"/>
          <p:cNvSpPr/>
          <p:nvPr/>
        </p:nvSpPr>
        <p:spPr>
          <a:xfrm>
            <a:off x="1088136" y="4032504"/>
            <a:ext cx="4398264" cy="292608"/>
          </a:xfrm>
          <a:prstGeom prst="rect">
            <a:avLst/>
          </a:prstGeom>
          <a:noFill/>
          <a:ln/>
        </p:spPr>
        <p:txBody>
          <a:bodyPr wrap="square" lIns="0" tIns="0" rIns="0" bIns="0" rtlCol="0" anchor="ctr">
            <a:normAutofit/>
          </a:bodyPr>
          <a:lstStyle/>
          <a:p>
            <a:pPr marL="0" indent="0">
              <a:buNone/>
            </a:pPr>
            <a:r>
              <a:rPr lang="en-US" sz="880" b="1" dirty="0">
                <a:solidFill>
                  <a:srgbClr val="12213A"/>
                </a:solidFill>
                <a:latin typeface="Aptos" pitchFamily="34" charset="0"/>
                <a:ea typeface="Aptos" pitchFamily="34" charset="-122"/>
                <a:cs typeface="Aptos" pitchFamily="34" charset="-120"/>
              </a:rPr>
              <a:t>Normalize labels to one target class</a:t>
            </a:r>
            <a:endParaRPr lang="en-US" sz="880" dirty="0"/>
          </a:p>
        </p:txBody>
      </p:sp>
      <p:sp>
        <p:nvSpPr>
          <p:cNvPr id="42" name="Shape 40"/>
          <p:cNvSpPr/>
          <p:nvPr/>
        </p:nvSpPr>
        <p:spPr>
          <a:xfrm>
            <a:off x="658368" y="4343400"/>
            <a:ext cx="4983480" cy="0"/>
          </a:xfrm>
          <a:prstGeom prst="line">
            <a:avLst/>
          </a:prstGeom>
          <a:noFill/>
          <a:ln w="12700">
            <a:solidFill>
              <a:srgbClr val="12213A"/>
            </a:solidFill>
            <a:prstDash val="solid"/>
          </a:ln>
        </p:spPr>
        <p:txBody>
          <a:bodyPr/>
          <a:lstStyle/>
          <a:p>
            <a:endParaRPr lang="en-US"/>
          </a:p>
        </p:txBody>
      </p:sp>
      <p:sp>
        <p:nvSpPr>
          <p:cNvPr id="43" name="Text 41"/>
          <p:cNvSpPr/>
          <p:nvPr/>
        </p:nvSpPr>
        <p:spPr>
          <a:xfrm>
            <a:off x="676656" y="4398264"/>
            <a:ext cx="374904" cy="29260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2</a:t>
            </a:r>
            <a:endParaRPr lang="en-US" sz="880" dirty="0"/>
          </a:p>
        </p:txBody>
      </p:sp>
      <p:sp>
        <p:nvSpPr>
          <p:cNvPr id="44" name="Text 42"/>
          <p:cNvSpPr/>
          <p:nvPr/>
        </p:nvSpPr>
        <p:spPr>
          <a:xfrm>
            <a:off x="1088136" y="4398264"/>
            <a:ext cx="4398264" cy="29260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Retain explicit background / hard-negative images</a:t>
            </a:r>
            <a:endParaRPr lang="en-US" sz="880" dirty="0"/>
          </a:p>
        </p:txBody>
      </p:sp>
      <p:sp>
        <p:nvSpPr>
          <p:cNvPr id="45" name="Shape 43"/>
          <p:cNvSpPr/>
          <p:nvPr/>
        </p:nvSpPr>
        <p:spPr>
          <a:xfrm>
            <a:off x="658368" y="4709160"/>
            <a:ext cx="4983480" cy="0"/>
          </a:xfrm>
          <a:prstGeom prst="line">
            <a:avLst/>
          </a:prstGeom>
          <a:noFill/>
          <a:ln w="5080">
            <a:solidFill>
              <a:srgbClr val="D8DEE9"/>
            </a:solidFill>
            <a:prstDash val="solid"/>
          </a:ln>
        </p:spPr>
        <p:txBody>
          <a:bodyPr/>
          <a:lstStyle/>
          <a:p>
            <a:endParaRPr lang="en-US"/>
          </a:p>
        </p:txBody>
      </p:sp>
      <p:sp>
        <p:nvSpPr>
          <p:cNvPr id="46" name="Text 44"/>
          <p:cNvSpPr/>
          <p:nvPr/>
        </p:nvSpPr>
        <p:spPr>
          <a:xfrm>
            <a:off x="676656" y="4764024"/>
            <a:ext cx="374904" cy="29260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3</a:t>
            </a:r>
            <a:endParaRPr lang="en-US" sz="880" dirty="0"/>
          </a:p>
        </p:txBody>
      </p:sp>
      <p:sp>
        <p:nvSpPr>
          <p:cNvPr id="47" name="Text 45"/>
          <p:cNvSpPr/>
          <p:nvPr/>
        </p:nvSpPr>
        <p:spPr>
          <a:xfrm>
            <a:off x="1088136" y="4764024"/>
            <a:ext cx="4398264" cy="29260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Avoid cross-split leakage; football split is grouped by source dataset</a:t>
            </a:r>
            <a:endParaRPr lang="en-US" sz="880" dirty="0"/>
          </a:p>
        </p:txBody>
      </p:sp>
      <p:sp>
        <p:nvSpPr>
          <p:cNvPr id="48" name="Shape 46"/>
          <p:cNvSpPr/>
          <p:nvPr/>
        </p:nvSpPr>
        <p:spPr>
          <a:xfrm>
            <a:off x="658368" y="5074920"/>
            <a:ext cx="4983480" cy="0"/>
          </a:xfrm>
          <a:prstGeom prst="line">
            <a:avLst/>
          </a:prstGeom>
          <a:noFill/>
          <a:ln w="5080">
            <a:solidFill>
              <a:srgbClr val="D8DEE9"/>
            </a:solidFill>
            <a:prstDash val="solid"/>
          </a:ln>
        </p:spPr>
        <p:txBody>
          <a:bodyPr/>
          <a:lstStyle/>
          <a:p>
            <a:endParaRPr lang="en-US"/>
          </a:p>
        </p:txBody>
      </p:sp>
      <p:sp>
        <p:nvSpPr>
          <p:cNvPr id="49" name="Text 47"/>
          <p:cNvSpPr/>
          <p:nvPr/>
        </p:nvSpPr>
        <p:spPr>
          <a:xfrm>
            <a:off x="676656" y="5129784"/>
            <a:ext cx="374904" cy="29260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4</a:t>
            </a:r>
            <a:endParaRPr lang="en-US" sz="880" dirty="0"/>
          </a:p>
        </p:txBody>
      </p:sp>
      <p:sp>
        <p:nvSpPr>
          <p:cNvPr id="50" name="Text 48"/>
          <p:cNvSpPr/>
          <p:nvPr/>
        </p:nvSpPr>
        <p:spPr>
          <a:xfrm>
            <a:off x="1088136" y="5129784"/>
            <a:ext cx="4398264" cy="29260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Export both COCO and Ultralytics YOLO layouts</a:t>
            </a:r>
            <a:endParaRPr lang="en-US" sz="880" dirty="0"/>
          </a:p>
        </p:txBody>
      </p:sp>
      <p:sp>
        <p:nvSpPr>
          <p:cNvPr id="51" name="Shape 49"/>
          <p:cNvSpPr/>
          <p:nvPr/>
        </p:nvSpPr>
        <p:spPr>
          <a:xfrm>
            <a:off x="658368" y="5440680"/>
            <a:ext cx="4983480" cy="0"/>
          </a:xfrm>
          <a:prstGeom prst="line">
            <a:avLst/>
          </a:prstGeom>
          <a:noFill/>
          <a:ln w="5080">
            <a:solidFill>
              <a:srgbClr val="D8DEE9"/>
            </a:solidFill>
            <a:prstDash val="solid"/>
          </a:ln>
        </p:spPr>
        <p:txBody>
          <a:bodyPr/>
          <a:lstStyle/>
          <a:p>
            <a:endParaRPr lang="en-US"/>
          </a:p>
        </p:txBody>
      </p:sp>
      <p:sp>
        <p:nvSpPr>
          <p:cNvPr id="52" name="Text 50"/>
          <p:cNvSpPr/>
          <p:nvPr/>
        </p:nvSpPr>
        <p:spPr>
          <a:xfrm>
            <a:off x="676656" y="5495544"/>
            <a:ext cx="374904" cy="29260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5</a:t>
            </a:r>
            <a:endParaRPr lang="en-US" sz="880" dirty="0"/>
          </a:p>
        </p:txBody>
      </p:sp>
      <p:sp>
        <p:nvSpPr>
          <p:cNvPr id="53" name="Text 51"/>
          <p:cNvSpPr/>
          <p:nvPr/>
        </p:nvSpPr>
        <p:spPr>
          <a:xfrm>
            <a:off x="1088136" y="5495544"/>
            <a:ext cx="4398264" cy="29260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Record provenance manifest for traceability</a:t>
            </a:r>
            <a:endParaRPr lang="en-US" sz="880" dirty="0"/>
          </a:p>
        </p:txBody>
      </p:sp>
      <p:sp>
        <p:nvSpPr>
          <p:cNvPr id="54" name="Shape 52"/>
          <p:cNvSpPr/>
          <p:nvPr/>
        </p:nvSpPr>
        <p:spPr>
          <a:xfrm>
            <a:off x="658368" y="5806440"/>
            <a:ext cx="4983480" cy="0"/>
          </a:xfrm>
          <a:prstGeom prst="line">
            <a:avLst/>
          </a:prstGeom>
          <a:noFill/>
          <a:ln w="5080">
            <a:solidFill>
              <a:srgbClr val="D8DEE9"/>
            </a:solidFill>
            <a:prstDash val="solid"/>
          </a:ln>
        </p:spPr>
        <p:txBody>
          <a:bodyPr/>
          <a:lstStyle/>
          <a:p>
            <a:endParaRPr lang="en-US"/>
          </a:p>
        </p:txBody>
      </p:sp>
      <p:pic>
        <p:nvPicPr>
          <p:cNvPr id="55" name="Image 0" descr="/mnt/data/notebook_images/nb02.02-ultra_yolo11n_large_basketball_cell19_out7.jpg"/>
          <p:cNvPicPr>
            <a:picLocks noChangeAspect="1"/>
          </p:cNvPicPr>
          <p:nvPr/>
        </p:nvPicPr>
        <p:blipFill>
          <a:blip r:embed="rId3"/>
          <a:srcRect t="25554" b="25554"/>
          <a:stretch/>
        </p:blipFill>
        <p:spPr>
          <a:xfrm>
            <a:off x="6400800" y="3657600"/>
            <a:ext cx="4956048" cy="2423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Model choices and licence position</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YOLO11n is useful for reference; deployment candidates should be permissively licensed.</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05</a:t>
            </a:r>
            <a:endParaRPr lang="en-US" sz="720" dirty="0"/>
          </a:p>
        </p:txBody>
      </p:sp>
      <p:sp>
        <p:nvSpPr>
          <p:cNvPr id="7" name="Text 5"/>
          <p:cNvSpPr/>
          <p:nvPr/>
        </p:nvSpPr>
        <p:spPr>
          <a:xfrm>
            <a:off x="676656" y="1289304"/>
            <a:ext cx="1380744" cy="603504"/>
          </a:xfrm>
          <a:prstGeom prst="rect">
            <a:avLst/>
          </a:prstGeom>
          <a:noFill/>
          <a:ln/>
        </p:spPr>
        <p:txBody>
          <a:bodyPr wrap="square" lIns="0" tIns="0" rIns="0" bIns="0" rtlCol="0" anchor="ctr">
            <a:normAutofit/>
          </a:bodyPr>
          <a:lstStyle/>
          <a:p>
            <a:pPr marL="0" indent="0">
              <a:buNone/>
            </a:pPr>
            <a:r>
              <a:rPr lang="en-US" sz="900" b="1" dirty="0">
                <a:solidFill>
                  <a:srgbClr val="12213A"/>
                </a:solidFill>
                <a:latin typeface="Aptos" pitchFamily="34" charset="0"/>
                <a:ea typeface="Aptos" pitchFamily="34" charset="-122"/>
                <a:cs typeface="Aptos" pitchFamily="34" charset="-120"/>
              </a:rPr>
              <a:t>Model</a:t>
            </a:r>
            <a:endParaRPr lang="en-US" sz="900" dirty="0"/>
          </a:p>
        </p:txBody>
      </p:sp>
      <p:sp>
        <p:nvSpPr>
          <p:cNvPr id="8" name="Text 6"/>
          <p:cNvSpPr/>
          <p:nvPr/>
        </p:nvSpPr>
        <p:spPr>
          <a:xfrm>
            <a:off x="2093976" y="1289304"/>
            <a:ext cx="3072384" cy="603504"/>
          </a:xfrm>
          <a:prstGeom prst="rect">
            <a:avLst/>
          </a:prstGeom>
          <a:noFill/>
          <a:ln/>
        </p:spPr>
        <p:txBody>
          <a:bodyPr wrap="square" lIns="0" tIns="0" rIns="0" bIns="0" rtlCol="0" anchor="ctr">
            <a:normAutofit/>
          </a:bodyPr>
          <a:lstStyle/>
          <a:p>
            <a:pPr marL="0" indent="0">
              <a:buNone/>
            </a:pPr>
            <a:r>
              <a:rPr lang="en-US" sz="900" b="1" dirty="0">
                <a:solidFill>
                  <a:srgbClr val="12213A"/>
                </a:solidFill>
                <a:latin typeface="Aptos" pitchFamily="34" charset="0"/>
                <a:ea typeface="Aptos" pitchFamily="34" charset="-122"/>
                <a:cs typeface="Aptos" pitchFamily="34" charset="-120"/>
              </a:rPr>
              <a:t>Why included</a:t>
            </a:r>
            <a:endParaRPr lang="en-US" sz="900" dirty="0"/>
          </a:p>
        </p:txBody>
      </p:sp>
      <p:sp>
        <p:nvSpPr>
          <p:cNvPr id="9" name="Text 7"/>
          <p:cNvSpPr/>
          <p:nvPr/>
        </p:nvSpPr>
        <p:spPr>
          <a:xfrm>
            <a:off x="5202936" y="1289304"/>
            <a:ext cx="2889504" cy="603504"/>
          </a:xfrm>
          <a:prstGeom prst="rect">
            <a:avLst/>
          </a:prstGeom>
          <a:noFill/>
          <a:ln/>
        </p:spPr>
        <p:txBody>
          <a:bodyPr wrap="square" lIns="0" tIns="0" rIns="0" bIns="0" rtlCol="0" anchor="ctr">
            <a:normAutofit/>
          </a:bodyPr>
          <a:lstStyle/>
          <a:p>
            <a:pPr marL="0" indent="0">
              <a:buNone/>
            </a:pPr>
            <a:r>
              <a:rPr lang="en-US" sz="900" b="1" dirty="0">
                <a:solidFill>
                  <a:srgbClr val="12213A"/>
                </a:solidFill>
                <a:latin typeface="Aptos" pitchFamily="34" charset="0"/>
                <a:ea typeface="Aptos" pitchFamily="34" charset="-122"/>
                <a:cs typeface="Aptos" pitchFamily="34" charset="-120"/>
              </a:rPr>
              <a:t>Licence position</a:t>
            </a:r>
            <a:endParaRPr lang="en-US" sz="900" dirty="0"/>
          </a:p>
        </p:txBody>
      </p:sp>
      <p:sp>
        <p:nvSpPr>
          <p:cNvPr id="10" name="Text 8"/>
          <p:cNvSpPr/>
          <p:nvPr/>
        </p:nvSpPr>
        <p:spPr>
          <a:xfrm>
            <a:off x="8129016" y="1289304"/>
            <a:ext cx="3300984" cy="603504"/>
          </a:xfrm>
          <a:prstGeom prst="rect">
            <a:avLst/>
          </a:prstGeom>
          <a:noFill/>
          <a:ln/>
        </p:spPr>
        <p:txBody>
          <a:bodyPr wrap="square" lIns="0" tIns="0" rIns="0" bIns="0" rtlCol="0" anchor="ctr">
            <a:normAutofit/>
          </a:bodyPr>
          <a:lstStyle/>
          <a:p>
            <a:pPr marL="0" indent="0">
              <a:buNone/>
            </a:pPr>
            <a:r>
              <a:rPr lang="en-US" sz="900" b="1" dirty="0">
                <a:solidFill>
                  <a:srgbClr val="12213A"/>
                </a:solidFill>
                <a:latin typeface="Aptos" pitchFamily="34" charset="0"/>
                <a:ea typeface="Aptos" pitchFamily="34" charset="-122"/>
                <a:cs typeface="Aptos" pitchFamily="34" charset="-120"/>
              </a:rPr>
              <a:t>Current recommendation</a:t>
            </a:r>
            <a:endParaRPr lang="en-US" sz="900" dirty="0"/>
          </a:p>
        </p:txBody>
      </p:sp>
      <p:sp>
        <p:nvSpPr>
          <p:cNvPr id="11" name="Shape 9"/>
          <p:cNvSpPr/>
          <p:nvPr/>
        </p:nvSpPr>
        <p:spPr>
          <a:xfrm>
            <a:off x="658368" y="1911096"/>
            <a:ext cx="10789920" cy="0"/>
          </a:xfrm>
          <a:prstGeom prst="line">
            <a:avLst/>
          </a:prstGeom>
          <a:noFill/>
          <a:ln w="12700">
            <a:solidFill>
              <a:srgbClr val="12213A"/>
            </a:solidFill>
            <a:prstDash val="solid"/>
          </a:ln>
        </p:spPr>
        <p:txBody>
          <a:bodyPr/>
          <a:lstStyle/>
          <a:p>
            <a:endParaRPr lang="en-US"/>
          </a:p>
        </p:txBody>
      </p:sp>
      <p:sp>
        <p:nvSpPr>
          <p:cNvPr id="12" name="Text 10"/>
          <p:cNvSpPr/>
          <p:nvPr/>
        </p:nvSpPr>
        <p:spPr>
          <a:xfrm>
            <a:off x="676656" y="1965960"/>
            <a:ext cx="138074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YOLO11n</a:t>
            </a:r>
            <a:endParaRPr lang="en-US" sz="900" dirty="0"/>
          </a:p>
        </p:txBody>
      </p:sp>
      <p:sp>
        <p:nvSpPr>
          <p:cNvPr id="13" name="Text 11"/>
          <p:cNvSpPr/>
          <p:nvPr/>
        </p:nvSpPr>
        <p:spPr>
          <a:xfrm>
            <a:off x="2093976" y="1965960"/>
            <a:ext cx="307238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Strong baseline; familiar tooling; fast training</a:t>
            </a:r>
            <a:endParaRPr lang="en-US" sz="900" dirty="0"/>
          </a:p>
        </p:txBody>
      </p:sp>
      <p:sp>
        <p:nvSpPr>
          <p:cNvPr id="14" name="Text 12"/>
          <p:cNvSpPr/>
          <p:nvPr/>
        </p:nvSpPr>
        <p:spPr>
          <a:xfrm>
            <a:off x="5202936" y="1965960"/>
            <a:ext cx="288950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AGPL-3.0 / commercial licence route</a:t>
            </a:r>
            <a:endParaRPr lang="en-US" sz="900" dirty="0"/>
          </a:p>
        </p:txBody>
      </p:sp>
      <p:sp>
        <p:nvSpPr>
          <p:cNvPr id="15" name="Text 13"/>
          <p:cNvSpPr/>
          <p:nvPr/>
        </p:nvSpPr>
        <p:spPr>
          <a:xfrm>
            <a:off x="8129016" y="1965960"/>
            <a:ext cx="330098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Benchmark only, not preferred for closed-source app</a:t>
            </a:r>
            <a:endParaRPr lang="en-US" sz="900" dirty="0"/>
          </a:p>
        </p:txBody>
      </p:sp>
      <p:sp>
        <p:nvSpPr>
          <p:cNvPr id="16" name="Shape 14"/>
          <p:cNvSpPr/>
          <p:nvPr/>
        </p:nvSpPr>
        <p:spPr>
          <a:xfrm>
            <a:off x="658368" y="2587752"/>
            <a:ext cx="10789920" cy="0"/>
          </a:xfrm>
          <a:prstGeom prst="line">
            <a:avLst/>
          </a:prstGeom>
          <a:noFill/>
          <a:ln w="5080">
            <a:solidFill>
              <a:srgbClr val="D8DEE9"/>
            </a:solidFill>
            <a:prstDash val="solid"/>
          </a:ln>
        </p:spPr>
        <p:txBody>
          <a:bodyPr/>
          <a:lstStyle/>
          <a:p>
            <a:endParaRPr lang="en-US"/>
          </a:p>
        </p:txBody>
      </p:sp>
      <p:sp>
        <p:nvSpPr>
          <p:cNvPr id="17" name="Text 15"/>
          <p:cNvSpPr/>
          <p:nvPr/>
        </p:nvSpPr>
        <p:spPr>
          <a:xfrm>
            <a:off x="676656" y="2642616"/>
            <a:ext cx="138074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YOLOX-Tiny</a:t>
            </a:r>
            <a:endParaRPr lang="en-US" sz="900" dirty="0"/>
          </a:p>
        </p:txBody>
      </p:sp>
      <p:sp>
        <p:nvSpPr>
          <p:cNvPr id="18" name="Text 16"/>
          <p:cNvSpPr/>
          <p:nvPr/>
        </p:nvSpPr>
        <p:spPr>
          <a:xfrm>
            <a:off x="2093976" y="2642616"/>
            <a:ext cx="307238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Lightweight YOLO-style model; permissive alternative</a:t>
            </a:r>
            <a:endParaRPr lang="en-US" sz="900" dirty="0"/>
          </a:p>
        </p:txBody>
      </p:sp>
      <p:sp>
        <p:nvSpPr>
          <p:cNvPr id="19" name="Text 17"/>
          <p:cNvSpPr/>
          <p:nvPr/>
        </p:nvSpPr>
        <p:spPr>
          <a:xfrm>
            <a:off x="5202936" y="2642616"/>
            <a:ext cx="288950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Apache 2.0</a:t>
            </a:r>
            <a:endParaRPr lang="en-US" sz="900" dirty="0"/>
          </a:p>
        </p:txBody>
      </p:sp>
      <p:sp>
        <p:nvSpPr>
          <p:cNvPr id="20" name="Text 18"/>
          <p:cNvSpPr/>
          <p:nvPr/>
        </p:nvSpPr>
        <p:spPr>
          <a:xfrm>
            <a:off x="8129016" y="2642616"/>
            <a:ext cx="330098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Keep as fallback/reference</a:t>
            </a:r>
            <a:endParaRPr lang="en-US" sz="900" dirty="0"/>
          </a:p>
        </p:txBody>
      </p:sp>
      <p:sp>
        <p:nvSpPr>
          <p:cNvPr id="21" name="Shape 19"/>
          <p:cNvSpPr/>
          <p:nvPr/>
        </p:nvSpPr>
        <p:spPr>
          <a:xfrm>
            <a:off x="658368" y="3264408"/>
            <a:ext cx="10789920" cy="0"/>
          </a:xfrm>
          <a:prstGeom prst="line">
            <a:avLst/>
          </a:prstGeom>
          <a:noFill/>
          <a:ln w="5080">
            <a:solidFill>
              <a:srgbClr val="D8DEE9"/>
            </a:solidFill>
            <a:prstDash val="solid"/>
          </a:ln>
        </p:spPr>
        <p:txBody>
          <a:bodyPr/>
          <a:lstStyle/>
          <a:p>
            <a:endParaRPr lang="en-US"/>
          </a:p>
        </p:txBody>
      </p:sp>
      <p:sp>
        <p:nvSpPr>
          <p:cNvPr id="22" name="Text 20"/>
          <p:cNvSpPr/>
          <p:nvPr/>
        </p:nvSpPr>
        <p:spPr>
          <a:xfrm>
            <a:off x="676656" y="3319272"/>
            <a:ext cx="138074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RF-DETR Small</a:t>
            </a:r>
            <a:endParaRPr lang="en-US" sz="900" dirty="0"/>
          </a:p>
        </p:txBody>
      </p:sp>
      <p:sp>
        <p:nvSpPr>
          <p:cNvPr id="23" name="Text 21"/>
          <p:cNvSpPr/>
          <p:nvPr/>
        </p:nvSpPr>
        <p:spPr>
          <a:xfrm>
            <a:off x="2093976" y="3319272"/>
            <a:ext cx="307238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Modern detector; promising accuracy; direct Roboflow support</a:t>
            </a:r>
            <a:endParaRPr lang="en-US" sz="900" dirty="0"/>
          </a:p>
        </p:txBody>
      </p:sp>
      <p:sp>
        <p:nvSpPr>
          <p:cNvPr id="24" name="Text 22"/>
          <p:cNvSpPr/>
          <p:nvPr/>
        </p:nvSpPr>
        <p:spPr>
          <a:xfrm>
            <a:off x="5202936" y="3319272"/>
            <a:ext cx="288950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Apache 2.0 for package + Small weights</a:t>
            </a:r>
            <a:endParaRPr lang="en-US" sz="900" dirty="0"/>
          </a:p>
        </p:txBody>
      </p:sp>
      <p:sp>
        <p:nvSpPr>
          <p:cNvPr id="25" name="Text 23"/>
          <p:cNvSpPr/>
          <p:nvPr/>
        </p:nvSpPr>
        <p:spPr>
          <a:xfrm>
            <a:off x="8129016" y="3319272"/>
            <a:ext cx="3300984" cy="603504"/>
          </a:xfrm>
          <a:prstGeom prst="rect">
            <a:avLst/>
          </a:prstGeom>
          <a:noFill/>
          <a:ln/>
        </p:spPr>
        <p:txBody>
          <a:bodyPr wrap="square" lIns="0" tIns="0" rIns="0" bIns="0" rtlCol="0" anchor="ctr">
            <a:normAutofit/>
          </a:bodyPr>
          <a:lstStyle/>
          <a:p>
            <a:pPr marL="0" indent="0">
              <a:buNone/>
            </a:pPr>
            <a:r>
              <a:rPr lang="en-US" sz="900" dirty="0">
                <a:solidFill>
                  <a:srgbClr val="151A23"/>
                </a:solidFill>
                <a:latin typeface="Aptos" pitchFamily="34" charset="0"/>
                <a:ea typeface="Aptos" pitchFamily="34" charset="-122"/>
                <a:cs typeface="Aptos" pitchFamily="34" charset="-120"/>
              </a:rPr>
              <a:t>Primary candidate for export / latency test</a:t>
            </a:r>
            <a:endParaRPr lang="en-US" sz="900" dirty="0"/>
          </a:p>
        </p:txBody>
      </p:sp>
      <p:sp>
        <p:nvSpPr>
          <p:cNvPr id="26" name="Shape 24"/>
          <p:cNvSpPr/>
          <p:nvPr/>
        </p:nvSpPr>
        <p:spPr>
          <a:xfrm>
            <a:off x="658368" y="3941064"/>
            <a:ext cx="10789920" cy="0"/>
          </a:xfrm>
          <a:prstGeom prst="line">
            <a:avLst/>
          </a:prstGeom>
          <a:noFill/>
          <a:ln w="5080">
            <a:solidFill>
              <a:srgbClr val="D8DEE9"/>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How training was run</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MacBook for development; completed training ran on Renku/DCU CUDA, not Colab, using 640×640 input.</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06</a:t>
            </a:r>
            <a:endParaRPr lang="en-US" sz="720" dirty="0"/>
          </a:p>
        </p:txBody>
      </p:sp>
      <p:sp>
        <p:nvSpPr>
          <p:cNvPr id="7" name="Text 5"/>
          <p:cNvSpPr/>
          <p:nvPr/>
        </p:nvSpPr>
        <p:spPr>
          <a:xfrm>
            <a:off x="585216" y="1197864"/>
            <a:ext cx="1289304" cy="402336"/>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Item</a:t>
            </a:r>
            <a:endParaRPr lang="en-US" sz="850" dirty="0"/>
          </a:p>
        </p:txBody>
      </p:sp>
      <p:sp>
        <p:nvSpPr>
          <p:cNvPr id="8" name="Text 6"/>
          <p:cNvSpPr/>
          <p:nvPr/>
        </p:nvSpPr>
        <p:spPr>
          <a:xfrm>
            <a:off x="1911096" y="1197864"/>
            <a:ext cx="3118104" cy="402336"/>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YOLO11n</a:t>
            </a:r>
            <a:endParaRPr lang="en-US" sz="850" dirty="0"/>
          </a:p>
        </p:txBody>
      </p:sp>
      <p:sp>
        <p:nvSpPr>
          <p:cNvPr id="9" name="Text 7"/>
          <p:cNvSpPr/>
          <p:nvPr/>
        </p:nvSpPr>
        <p:spPr>
          <a:xfrm>
            <a:off x="5065776" y="1197864"/>
            <a:ext cx="2706624" cy="402336"/>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YOLOX-Tiny</a:t>
            </a:r>
            <a:endParaRPr lang="en-US" sz="850" dirty="0"/>
          </a:p>
        </p:txBody>
      </p:sp>
      <p:sp>
        <p:nvSpPr>
          <p:cNvPr id="10" name="Text 8"/>
          <p:cNvSpPr/>
          <p:nvPr/>
        </p:nvSpPr>
        <p:spPr>
          <a:xfrm>
            <a:off x="7808976" y="1197864"/>
            <a:ext cx="3803904" cy="402336"/>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RF-DETR Small</a:t>
            </a:r>
            <a:endParaRPr lang="en-US" sz="850" dirty="0"/>
          </a:p>
        </p:txBody>
      </p:sp>
      <p:sp>
        <p:nvSpPr>
          <p:cNvPr id="11" name="Shape 9"/>
          <p:cNvSpPr/>
          <p:nvPr/>
        </p:nvSpPr>
        <p:spPr>
          <a:xfrm>
            <a:off x="566928" y="1618488"/>
            <a:ext cx="11064240" cy="0"/>
          </a:xfrm>
          <a:prstGeom prst="line">
            <a:avLst/>
          </a:prstGeom>
          <a:noFill/>
          <a:ln w="12700">
            <a:solidFill>
              <a:srgbClr val="12213A"/>
            </a:solidFill>
            <a:prstDash val="solid"/>
          </a:ln>
        </p:spPr>
        <p:txBody>
          <a:bodyPr/>
          <a:lstStyle/>
          <a:p>
            <a:endParaRPr lang="en-US"/>
          </a:p>
        </p:txBody>
      </p:sp>
      <p:sp>
        <p:nvSpPr>
          <p:cNvPr id="12" name="Text 10"/>
          <p:cNvSpPr/>
          <p:nvPr/>
        </p:nvSpPr>
        <p:spPr>
          <a:xfrm>
            <a:off x="585216" y="1673352"/>
            <a:ext cx="12893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Dataset</a:t>
            </a:r>
            <a:endParaRPr lang="en-US" sz="840" dirty="0"/>
          </a:p>
        </p:txBody>
      </p:sp>
      <p:sp>
        <p:nvSpPr>
          <p:cNvPr id="13" name="Text 11"/>
          <p:cNvSpPr/>
          <p:nvPr/>
        </p:nvSpPr>
        <p:spPr>
          <a:xfrm>
            <a:off x="1911096" y="1673352"/>
            <a:ext cx="31181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Basketball-large / YOLO</a:t>
            </a:r>
            <a:endParaRPr lang="en-US" sz="840" dirty="0"/>
          </a:p>
        </p:txBody>
      </p:sp>
      <p:sp>
        <p:nvSpPr>
          <p:cNvPr id="14" name="Text 12"/>
          <p:cNvSpPr/>
          <p:nvPr/>
        </p:nvSpPr>
        <p:spPr>
          <a:xfrm>
            <a:off x="5065776" y="1673352"/>
            <a:ext cx="270662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Basketball-large / COCO</a:t>
            </a:r>
            <a:endParaRPr lang="en-US" sz="840" dirty="0"/>
          </a:p>
        </p:txBody>
      </p:sp>
      <p:sp>
        <p:nvSpPr>
          <p:cNvPr id="15" name="Text 13"/>
          <p:cNvSpPr/>
          <p:nvPr/>
        </p:nvSpPr>
        <p:spPr>
          <a:xfrm>
            <a:off x="7808976" y="1673352"/>
            <a:ext cx="38039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Basketball-large / COCO-derived RF-DETR layout</a:t>
            </a:r>
            <a:endParaRPr lang="en-US" sz="840" dirty="0"/>
          </a:p>
        </p:txBody>
      </p:sp>
      <p:sp>
        <p:nvSpPr>
          <p:cNvPr id="16" name="Shape 14"/>
          <p:cNvSpPr/>
          <p:nvPr/>
        </p:nvSpPr>
        <p:spPr>
          <a:xfrm>
            <a:off x="566928" y="2093976"/>
            <a:ext cx="11064240" cy="0"/>
          </a:xfrm>
          <a:prstGeom prst="line">
            <a:avLst/>
          </a:prstGeom>
          <a:noFill/>
          <a:ln w="5080">
            <a:solidFill>
              <a:srgbClr val="D8DEE9"/>
            </a:solidFill>
            <a:prstDash val="solid"/>
          </a:ln>
        </p:spPr>
        <p:txBody>
          <a:bodyPr/>
          <a:lstStyle/>
          <a:p>
            <a:endParaRPr lang="en-US"/>
          </a:p>
        </p:txBody>
      </p:sp>
      <p:sp>
        <p:nvSpPr>
          <p:cNvPr id="17" name="Text 15"/>
          <p:cNvSpPr/>
          <p:nvPr/>
        </p:nvSpPr>
        <p:spPr>
          <a:xfrm>
            <a:off x="585216" y="2148840"/>
            <a:ext cx="12893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Classes</a:t>
            </a:r>
            <a:endParaRPr lang="en-US" sz="840" dirty="0"/>
          </a:p>
        </p:txBody>
      </p:sp>
      <p:sp>
        <p:nvSpPr>
          <p:cNvPr id="18" name="Text 16"/>
          <p:cNvSpPr/>
          <p:nvPr/>
        </p:nvSpPr>
        <p:spPr>
          <a:xfrm>
            <a:off x="1911096" y="2148840"/>
            <a:ext cx="31181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1: basketball</a:t>
            </a:r>
            <a:endParaRPr lang="en-US" sz="840" dirty="0"/>
          </a:p>
        </p:txBody>
      </p:sp>
      <p:sp>
        <p:nvSpPr>
          <p:cNvPr id="19" name="Text 17"/>
          <p:cNvSpPr/>
          <p:nvPr/>
        </p:nvSpPr>
        <p:spPr>
          <a:xfrm>
            <a:off x="5065776" y="2148840"/>
            <a:ext cx="270662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1: basketball</a:t>
            </a:r>
            <a:endParaRPr lang="en-US" sz="840" dirty="0"/>
          </a:p>
        </p:txBody>
      </p:sp>
      <p:sp>
        <p:nvSpPr>
          <p:cNvPr id="20" name="Text 18"/>
          <p:cNvSpPr/>
          <p:nvPr/>
        </p:nvSpPr>
        <p:spPr>
          <a:xfrm>
            <a:off x="7808976" y="2148840"/>
            <a:ext cx="38039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1: basketball</a:t>
            </a:r>
            <a:endParaRPr lang="en-US" sz="840" dirty="0"/>
          </a:p>
        </p:txBody>
      </p:sp>
      <p:sp>
        <p:nvSpPr>
          <p:cNvPr id="21" name="Shape 19"/>
          <p:cNvSpPr/>
          <p:nvPr/>
        </p:nvSpPr>
        <p:spPr>
          <a:xfrm>
            <a:off x="566928" y="2569464"/>
            <a:ext cx="11064240" cy="0"/>
          </a:xfrm>
          <a:prstGeom prst="line">
            <a:avLst/>
          </a:prstGeom>
          <a:noFill/>
          <a:ln w="5080">
            <a:solidFill>
              <a:srgbClr val="D8DEE9"/>
            </a:solidFill>
            <a:prstDash val="solid"/>
          </a:ln>
        </p:spPr>
        <p:txBody>
          <a:bodyPr/>
          <a:lstStyle/>
          <a:p>
            <a:endParaRPr lang="en-US"/>
          </a:p>
        </p:txBody>
      </p:sp>
      <p:sp>
        <p:nvSpPr>
          <p:cNvPr id="22" name="Text 20"/>
          <p:cNvSpPr/>
          <p:nvPr/>
        </p:nvSpPr>
        <p:spPr>
          <a:xfrm>
            <a:off x="585216" y="2624328"/>
            <a:ext cx="12893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Image size</a:t>
            </a:r>
            <a:endParaRPr lang="en-US" sz="840" dirty="0"/>
          </a:p>
        </p:txBody>
      </p:sp>
      <p:sp>
        <p:nvSpPr>
          <p:cNvPr id="23" name="Text 21"/>
          <p:cNvSpPr/>
          <p:nvPr/>
        </p:nvSpPr>
        <p:spPr>
          <a:xfrm>
            <a:off x="1911096" y="2624328"/>
            <a:ext cx="31181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640×640</a:t>
            </a:r>
            <a:endParaRPr lang="en-US" sz="840" dirty="0"/>
          </a:p>
        </p:txBody>
      </p:sp>
      <p:sp>
        <p:nvSpPr>
          <p:cNvPr id="24" name="Text 22"/>
          <p:cNvSpPr/>
          <p:nvPr/>
        </p:nvSpPr>
        <p:spPr>
          <a:xfrm>
            <a:off x="5065776" y="2624328"/>
            <a:ext cx="270662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640×640</a:t>
            </a:r>
            <a:endParaRPr lang="en-US" sz="840" dirty="0"/>
          </a:p>
        </p:txBody>
      </p:sp>
      <p:sp>
        <p:nvSpPr>
          <p:cNvPr id="25" name="Text 23"/>
          <p:cNvSpPr/>
          <p:nvPr/>
        </p:nvSpPr>
        <p:spPr>
          <a:xfrm>
            <a:off x="7808976" y="2624328"/>
            <a:ext cx="38039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640×640</a:t>
            </a:r>
            <a:endParaRPr lang="en-US" sz="840" dirty="0"/>
          </a:p>
        </p:txBody>
      </p:sp>
      <p:sp>
        <p:nvSpPr>
          <p:cNvPr id="26" name="Shape 24"/>
          <p:cNvSpPr/>
          <p:nvPr/>
        </p:nvSpPr>
        <p:spPr>
          <a:xfrm>
            <a:off x="566928" y="3044952"/>
            <a:ext cx="11064240" cy="0"/>
          </a:xfrm>
          <a:prstGeom prst="line">
            <a:avLst/>
          </a:prstGeom>
          <a:noFill/>
          <a:ln w="5080">
            <a:solidFill>
              <a:srgbClr val="D8DEE9"/>
            </a:solidFill>
            <a:prstDash val="solid"/>
          </a:ln>
        </p:spPr>
        <p:txBody>
          <a:bodyPr/>
          <a:lstStyle/>
          <a:p>
            <a:endParaRPr lang="en-US"/>
          </a:p>
        </p:txBody>
      </p:sp>
      <p:sp>
        <p:nvSpPr>
          <p:cNvPr id="27" name="Text 25"/>
          <p:cNvSpPr/>
          <p:nvPr/>
        </p:nvSpPr>
        <p:spPr>
          <a:xfrm>
            <a:off x="585216" y="3099816"/>
            <a:ext cx="12893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Epoch budget</a:t>
            </a:r>
            <a:endParaRPr lang="en-US" sz="840" dirty="0"/>
          </a:p>
        </p:txBody>
      </p:sp>
      <p:sp>
        <p:nvSpPr>
          <p:cNvPr id="28" name="Text 26"/>
          <p:cNvSpPr/>
          <p:nvPr/>
        </p:nvSpPr>
        <p:spPr>
          <a:xfrm>
            <a:off x="1911096" y="3099816"/>
            <a:ext cx="31181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100</a:t>
            </a:r>
            <a:endParaRPr lang="en-US" sz="840" dirty="0"/>
          </a:p>
        </p:txBody>
      </p:sp>
      <p:sp>
        <p:nvSpPr>
          <p:cNvPr id="29" name="Text 27"/>
          <p:cNvSpPr/>
          <p:nvPr/>
        </p:nvSpPr>
        <p:spPr>
          <a:xfrm>
            <a:off x="5065776" y="3099816"/>
            <a:ext cx="270662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100</a:t>
            </a:r>
            <a:endParaRPr lang="en-US" sz="840" dirty="0"/>
          </a:p>
        </p:txBody>
      </p:sp>
      <p:sp>
        <p:nvSpPr>
          <p:cNvPr id="30" name="Text 28"/>
          <p:cNvSpPr/>
          <p:nvPr/>
        </p:nvSpPr>
        <p:spPr>
          <a:xfrm>
            <a:off x="7808976" y="3099816"/>
            <a:ext cx="38039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100</a:t>
            </a:r>
            <a:endParaRPr lang="en-US" sz="840" dirty="0"/>
          </a:p>
        </p:txBody>
      </p:sp>
      <p:sp>
        <p:nvSpPr>
          <p:cNvPr id="31" name="Shape 29"/>
          <p:cNvSpPr/>
          <p:nvPr/>
        </p:nvSpPr>
        <p:spPr>
          <a:xfrm>
            <a:off x="566928" y="3520440"/>
            <a:ext cx="11064240" cy="0"/>
          </a:xfrm>
          <a:prstGeom prst="line">
            <a:avLst/>
          </a:prstGeom>
          <a:noFill/>
          <a:ln w="5080">
            <a:solidFill>
              <a:srgbClr val="D8DEE9"/>
            </a:solidFill>
            <a:prstDash val="solid"/>
          </a:ln>
        </p:spPr>
        <p:txBody>
          <a:bodyPr/>
          <a:lstStyle/>
          <a:p>
            <a:endParaRPr lang="en-US"/>
          </a:p>
        </p:txBody>
      </p:sp>
      <p:sp>
        <p:nvSpPr>
          <p:cNvPr id="32" name="Text 30"/>
          <p:cNvSpPr/>
          <p:nvPr/>
        </p:nvSpPr>
        <p:spPr>
          <a:xfrm>
            <a:off x="585216" y="3575304"/>
            <a:ext cx="12893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Batch size</a:t>
            </a:r>
            <a:endParaRPr lang="en-US" sz="840" dirty="0"/>
          </a:p>
        </p:txBody>
      </p:sp>
      <p:sp>
        <p:nvSpPr>
          <p:cNvPr id="33" name="Text 31"/>
          <p:cNvSpPr/>
          <p:nvPr/>
        </p:nvSpPr>
        <p:spPr>
          <a:xfrm>
            <a:off x="1911096" y="3575304"/>
            <a:ext cx="31181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16</a:t>
            </a:r>
            <a:endParaRPr lang="en-US" sz="840" dirty="0"/>
          </a:p>
        </p:txBody>
      </p:sp>
      <p:sp>
        <p:nvSpPr>
          <p:cNvPr id="34" name="Text 32"/>
          <p:cNvSpPr/>
          <p:nvPr/>
        </p:nvSpPr>
        <p:spPr>
          <a:xfrm>
            <a:off x="5065776" y="3575304"/>
            <a:ext cx="270662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8</a:t>
            </a:r>
            <a:endParaRPr lang="en-US" sz="840" dirty="0"/>
          </a:p>
        </p:txBody>
      </p:sp>
      <p:sp>
        <p:nvSpPr>
          <p:cNvPr id="35" name="Text 33"/>
          <p:cNvSpPr/>
          <p:nvPr/>
        </p:nvSpPr>
        <p:spPr>
          <a:xfrm>
            <a:off x="7808976" y="3575304"/>
            <a:ext cx="38039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4</a:t>
            </a:r>
            <a:endParaRPr lang="en-US" sz="840" dirty="0"/>
          </a:p>
        </p:txBody>
      </p:sp>
      <p:sp>
        <p:nvSpPr>
          <p:cNvPr id="36" name="Shape 34"/>
          <p:cNvSpPr/>
          <p:nvPr/>
        </p:nvSpPr>
        <p:spPr>
          <a:xfrm>
            <a:off x="566928" y="3995928"/>
            <a:ext cx="11064240" cy="0"/>
          </a:xfrm>
          <a:prstGeom prst="line">
            <a:avLst/>
          </a:prstGeom>
          <a:noFill/>
          <a:ln w="5080">
            <a:solidFill>
              <a:srgbClr val="D8DEE9"/>
            </a:solidFill>
            <a:prstDash val="solid"/>
          </a:ln>
        </p:spPr>
        <p:txBody>
          <a:bodyPr/>
          <a:lstStyle/>
          <a:p>
            <a:endParaRPr lang="en-US"/>
          </a:p>
        </p:txBody>
      </p:sp>
      <p:sp>
        <p:nvSpPr>
          <p:cNvPr id="37" name="Text 35"/>
          <p:cNvSpPr/>
          <p:nvPr/>
        </p:nvSpPr>
        <p:spPr>
          <a:xfrm>
            <a:off x="585216" y="4050792"/>
            <a:ext cx="12893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Hardware</a:t>
            </a:r>
            <a:endParaRPr lang="en-US" sz="840" dirty="0"/>
          </a:p>
        </p:txBody>
      </p:sp>
      <p:sp>
        <p:nvSpPr>
          <p:cNvPr id="38" name="Text 36"/>
          <p:cNvSpPr/>
          <p:nvPr/>
        </p:nvSpPr>
        <p:spPr>
          <a:xfrm>
            <a:off x="1911096" y="4050792"/>
            <a:ext cx="31181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Renku CUDA: RTX PRO 6000 Blackwell MIG 2g.48gb</a:t>
            </a:r>
            <a:endParaRPr lang="en-US" sz="840" dirty="0"/>
          </a:p>
        </p:txBody>
      </p:sp>
      <p:sp>
        <p:nvSpPr>
          <p:cNvPr id="39" name="Text 37"/>
          <p:cNvSpPr/>
          <p:nvPr/>
        </p:nvSpPr>
        <p:spPr>
          <a:xfrm>
            <a:off x="5065776" y="4050792"/>
            <a:ext cx="2706624" cy="402336"/>
          </a:xfrm>
          <a:prstGeom prst="rect">
            <a:avLst/>
          </a:prstGeom>
          <a:noFill/>
          <a:ln/>
        </p:spPr>
        <p:txBody>
          <a:bodyPr wrap="square" lIns="0" tIns="0" rIns="0" bIns="0" rtlCol="0" anchor="ctr">
            <a:normAutofit/>
          </a:bodyPr>
          <a:lstStyle/>
          <a:p>
            <a:r>
              <a:rPr lang="en-US" sz="840">
                <a:solidFill>
                  <a:srgbClr val="151A23"/>
                </a:solidFill>
                <a:latin typeface="Aptos" pitchFamily="34" charset="0"/>
                <a:ea typeface="Aptos" pitchFamily="34" charset="-122"/>
                <a:cs typeface="Aptos" pitchFamily="34" charset="-120"/>
              </a:rPr>
              <a:t>Renku CUDA: RTX PRO 6000 Blackwell MIG 2g.48gb</a:t>
            </a:r>
            <a:endParaRPr lang="en-US" sz="840" dirty="0"/>
          </a:p>
        </p:txBody>
      </p:sp>
      <p:sp>
        <p:nvSpPr>
          <p:cNvPr id="40" name="Text 38"/>
          <p:cNvSpPr/>
          <p:nvPr/>
        </p:nvSpPr>
        <p:spPr>
          <a:xfrm>
            <a:off x="7808976" y="4050792"/>
            <a:ext cx="38039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Renku CUDA: RTX PRO 6000 Blackwell MIG 2g.48gb</a:t>
            </a:r>
            <a:endParaRPr lang="en-US" sz="840" dirty="0"/>
          </a:p>
        </p:txBody>
      </p:sp>
      <p:sp>
        <p:nvSpPr>
          <p:cNvPr id="41" name="Shape 39"/>
          <p:cNvSpPr/>
          <p:nvPr/>
        </p:nvSpPr>
        <p:spPr>
          <a:xfrm>
            <a:off x="566928" y="4471416"/>
            <a:ext cx="11064240" cy="0"/>
          </a:xfrm>
          <a:prstGeom prst="line">
            <a:avLst/>
          </a:prstGeom>
          <a:noFill/>
          <a:ln w="5080">
            <a:solidFill>
              <a:srgbClr val="D8DEE9"/>
            </a:solidFill>
            <a:prstDash val="solid"/>
          </a:ln>
        </p:spPr>
        <p:txBody>
          <a:bodyPr/>
          <a:lstStyle/>
          <a:p>
            <a:endParaRPr lang="en-US"/>
          </a:p>
        </p:txBody>
      </p:sp>
      <p:sp>
        <p:nvSpPr>
          <p:cNvPr id="42" name="Text 40"/>
          <p:cNvSpPr/>
          <p:nvPr/>
        </p:nvSpPr>
        <p:spPr>
          <a:xfrm>
            <a:off x="585216" y="4526280"/>
            <a:ext cx="12893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Checkpoint</a:t>
            </a:r>
            <a:endParaRPr lang="en-US" sz="840" dirty="0"/>
          </a:p>
        </p:txBody>
      </p:sp>
      <p:sp>
        <p:nvSpPr>
          <p:cNvPr id="43" name="Text 41"/>
          <p:cNvSpPr/>
          <p:nvPr/>
        </p:nvSpPr>
        <p:spPr>
          <a:xfrm>
            <a:off x="1911096" y="4526280"/>
            <a:ext cx="31181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Best validation mAP50-95</a:t>
            </a:r>
            <a:endParaRPr lang="en-US" sz="840" dirty="0"/>
          </a:p>
        </p:txBody>
      </p:sp>
      <p:sp>
        <p:nvSpPr>
          <p:cNvPr id="44" name="Text 42"/>
          <p:cNvSpPr/>
          <p:nvPr/>
        </p:nvSpPr>
        <p:spPr>
          <a:xfrm>
            <a:off x="5065776" y="4526280"/>
            <a:ext cx="270662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Best validation mAP50-95</a:t>
            </a:r>
            <a:endParaRPr lang="en-US" sz="840" dirty="0"/>
          </a:p>
        </p:txBody>
      </p:sp>
      <p:sp>
        <p:nvSpPr>
          <p:cNvPr id="45" name="Text 43"/>
          <p:cNvSpPr/>
          <p:nvPr/>
        </p:nvSpPr>
        <p:spPr>
          <a:xfrm>
            <a:off x="7808976" y="4526280"/>
            <a:ext cx="3803904" cy="402336"/>
          </a:xfrm>
          <a:prstGeom prst="rect">
            <a:avLst/>
          </a:prstGeom>
          <a:noFill/>
          <a:ln/>
        </p:spPr>
        <p:txBody>
          <a:bodyPr wrap="square" lIns="0" tIns="0" rIns="0" bIns="0" rtlCol="0" anchor="ctr">
            <a:normAutofit/>
          </a:bodyPr>
          <a:lstStyle/>
          <a:p>
            <a:pPr marL="0" indent="0">
              <a:buNone/>
            </a:pPr>
            <a:r>
              <a:rPr lang="en-US" sz="840" dirty="0">
                <a:solidFill>
                  <a:srgbClr val="151A23"/>
                </a:solidFill>
                <a:latin typeface="Aptos" pitchFamily="34" charset="0"/>
                <a:ea typeface="Aptos" pitchFamily="34" charset="-122"/>
                <a:cs typeface="Aptos" pitchFamily="34" charset="-120"/>
              </a:rPr>
              <a:t>Selected epoch 27, regular weights</a:t>
            </a:r>
            <a:endParaRPr lang="en-US" sz="840" dirty="0"/>
          </a:p>
        </p:txBody>
      </p:sp>
      <p:sp>
        <p:nvSpPr>
          <p:cNvPr id="46" name="Shape 44"/>
          <p:cNvSpPr/>
          <p:nvPr/>
        </p:nvSpPr>
        <p:spPr>
          <a:xfrm>
            <a:off x="566928" y="4946904"/>
            <a:ext cx="11064240" cy="0"/>
          </a:xfrm>
          <a:prstGeom prst="line">
            <a:avLst/>
          </a:prstGeom>
          <a:noFill/>
          <a:ln w="5080">
            <a:solidFill>
              <a:srgbClr val="D8DEE9"/>
            </a:solidFill>
            <a:prstDash val="solid"/>
          </a:ln>
        </p:spPr>
        <p:txBody>
          <a:bodyPr/>
          <a:lstStyle/>
          <a:p>
            <a:endParaRPr lang="en-US"/>
          </a:p>
        </p:txBody>
      </p:sp>
      <p:sp>
        <p:nvSpPr>
          <p:cNvPr id="47" name="Text 45"/>
          <p:cNvSpPr/>
          <p:nvPr/>
        </p:nvSpPr>
        <p:spPr>
          <a:xfrm>
            <a:off x="658368" y="5349240"/>
            <a:ext cx="3017520" cy="219456"/>
          </a:xfrm>
          <a:prstGeom prst="rect">
            <a:avLst/>
          </a:prstGeom>
          <a:noFill/>
          <a:ln/>
        </p:spPr>
        <p:txBody>
          <a:bodyPr wrap="square" lIns="0" tIns="0" rIns="0" bIns="0" rtlCol="0" anchor="ctr"/>
          <a:lstStyle/>
          <a:p>
            <a:pPr marL="0" indent="0">
              <a:buNone/>
            </a:pPr>
            <a:r>
              <a:rPr lang="en-US" sz="1250" b="1" dirty="0">
                <a:solidFill>
                  <a:srgbClr val="151A23"/>
                </a:solidFill>
              </a:rPr>
              <a:t>Important comparison limitation</a:t>
            </a:r>
            <a:endParaRPr lang="en-US" sz="1250" dirty="0"/>
          </a:p>
        </p:txBody>
      </p:sp>
      <p:sp>
        <p:nvSpPr>
          <p:cNvPr id="48" name="Text 46"/>
          <p:cNvSpPr/>
          <p:nvPr/>
        </p:nvSpPr>
        <p:spPr>
          <a:xfrm>
            <a:off x="658368" y="5641848"/>
            <a:ext cx="9966960" cy="384048"/>
          </a:xfrm>
          <a:prstGeom prst="rect">
            <a:avLst/>
          </a:prstGeom>
          <a:noFill/>
          <a:ln/>
        </p:spPr>
        <p:txBody>
          <a:bodyPr wrap="square" lIns="0" tIns="0" rIns="0" bIns="0" rtlCol="0" anchor="ctr">
            <a:normAutofit/>
          </a:bodyPr>
          <a:lstStyle/>
          <a:p>
            <a:pPr marL="0" indent="0">
              <a:buNone/>
            </a:pPr>
            <a:r>
              <a:rPr lang="en-US" sz="1050" dirty="0">
                <a:solidFill>
                  <a:srgbClr val="6B7280"/>
                </a:solidFill>
              </a:rPr>
              <a:t>This is a practical engineering benchmark, not a strictly controlled architecture study. Different frameworks, losses, augmentations and postprocessing mean speed numbers are not yet directly comparable.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Results table: completed runs</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Reported held-out test metrics for one representative completed run per dataset/model configuration.</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07</a:t>
            </a:r>
            <a:endParaRPr lang="en-US" sz="720" dirty="0"/>
          </a:p>
        </p:txBody>
      </p:sp>
      <p:sp>
        <p:nvSpPr>
          <p:cNvPr id="7" name="Text 5"/>
          <p:cNvSpPr/>
          <p:nvPr/>
        </p:nvSpPr>
        <p:spPr>
          <a:xfrm>
            <a:off x="274320" y="1133856"/>
            <a:ext cx="1197864"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Dataset</a:t>
            </a:r>
            <a:endParaRPr lang="en-US" sz="1100" dirty="0"/>
          </a:p>
        </p:txBody>
      </p:sp>
      <p:sp>
        <p:nvSpPr>
          <p:cNvPr id="8" name="Text 6"/>
          <p:cNvSpPr/>
          <p:nvPr/>
        </p:nvSpPr>
        <p:spPr>
          <a:xfrm>
            <a:off x="1325880" y="1133856"/>
            <a:ext cx="768096"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 classes</a:t>
            </a:r>
            <a:endParaRPr lang="en-US" sz="1100" dirty="0"/>
          </a:p>
        </p:txBody>
      </p:sp>
      <p:sp>
        <p:nvSpPr>
          <p:cNvPr id="9" name="Text 7"/>
          <p:cNvSpPr/>
          <p:nvPr/>
        </p:nvSpPr>
        <p:spPr>
          <a:xfrm>
            <a:off x="2130552" y="1133856"/>
            <a:ext cx="768096"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 images</a:t>
            </a:r>
            <a:endParaRPr lang="en-US" sz="1100" dirty="0"/>
          </a:p>
        </p:txBody>
      </p:sp>
      <p:sp>
        <p:nvSpPr>
          <p:cNvPr id="10" name="Text 8"/>
          <p:cNvSpPr/>
          <p:nvPr/>
        </p:nvSpPr>
        <p:spPr>
          <a:xfrm>
            <a:off x="2935224" y="1133856"/>
            <a:ext cx="1014984"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Model</a:t>
            </a:r>
            <a:endParaRPr lang="en-US" sz="1100" dirty="0"/>
          </a:p>
        </p:txBody>
      </p:sp>
      <p:sp>
        <p:nvSpPr>
          <p:cNvPr id="69" name="TextBox 69"/>
          <p:cNvSpPr/>
          <p:nvPr/>
        </p:nvSpPr>
        <p:spPr>
          <a:xfrm>
            <a:off x="3986784" y="1133856"/>
            <a:ext cx="768096"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Parameters</a:t>
            </a:r>
            <a:endParaRPr lang="en-US" sz="1100" dirty="0"/>
          </a:p>
        </p:txBody>
      </p:sp>
      <p:sp>
        <p:nvSpPr>
          <p:cNvPr id="11" name="Text 9"/>
          <p:cNvSpPr/>
          <p:nvPr/>
        </p:nvSpPr>
        <p:spPr>
          <a:xfrm>
            <a:off x="4791456" y="1133856"/>
            <a:ext cx="1335024"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Hardware</a:t>
            </a:r>
            <a:endParaRPr lang="en-US" sz="1100" dirty="0"/>
          </a:p>
        </p:txBody>
      </p:sp>
      <p:sp>
        <p:nvSpPr>
          <p:cNvPr id="12" name="Text 10"/>
          <p:cNvSpPr/>
          <p:nvPr/>
        </p:nvSpPr>
        <p:spPr>
          <a:xfrm>
            <a:off x="6163056" y="1133856"/>
            <a:ext cx="1170432"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Training time</a:t>
            </a:r>
            <a:endParaRPr lang="en-US" sz="1100" dirty="0"/>
          </a:p>
        </p:txBody>
      </p:sp>
      <p:sp>
        <p:nvSpPr>
          <p:cNvPr id="13" name="Text 11"/>
          <p:cNvSpPr/>
          <p:nvPr/>
        </p:nvSpPr>
        <p:spPr>
          <a:xfrm>
            <a:off x="7370064" y="1133856"/>
            <a:ext cx="676656"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mAP50</a:t>
            </a:r>
            <a:endParaRPr lang="en-US" sz="1100" dirty="0"/>
          </a:p>
        </p:txBody>
      </p:sp>
      <p:sp>
        <p:nvSpPr>
          <p:cNvPr id="14" name="Text 12"/>
          <p:cNvSpPr/>
          <p:nvPr/>
        </p:nvSpPr>
        <p:spPr>
          <a:xfrm>
            <a:off x="8083296" y="1133856"/>
            <a:ext cx="713232"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mAP50-95</a:t>
            </a:r>
            <a:endParaRPr lang="en-US" sz="1100" dirty="0"/>
          </a:p>
        </p:txBody>
      </p:sp>
      <p:sp>
        <p:nvSpPr>
          <p:cNvPr id="15" name="Text 13"/>
          <p:cNvSpPr/>
          <p:nvPr/>
        </p:nvSpPr>
        <p:spPr>
          <a:xfrm>
            <a:off x="8833104" y="1133856"/>
            <a:ext cx="2066544" cy="448056"/>
          </a:xfrm>
          <a:prstGeom prst="rect">
            <a:avLst/>
          </a:prstGeom>
          <a:noFill/>
          <a:ln/>
        </p:spPr>
        <p:txBody>
          <a:bodyPr wrap="square" lIns="0" tIns="0" rIns="0" bIns="0" rtlCol="0" anchor="ctr">
            <a:normAutofit/>
          </a:bodyPr>
          <a:lstStyle/>
          <a:p>
            <a:pPr marL="0" indent="0">
              <a:buNone/>
            </a:pPr>
            <a:r>
              <a:rPr lang="en-US" sz="1100" b="1" dirty="0">
                <a:solidFill>
                  <a:srgbClr val="12213A"/>
                </a:solidFill>
                <a:latin typeface="Aptos" pitchFamily="34" charset="0"/>
                <a:ea typeface="Aptos" pitchFamily="34" charset="-122"/>
                <a:cs typeface="Aptos" pitchFamily="34" charset="-120"/>
              </a:rPr>
              <a:t>Inference speed</a:t>
            </a:r>
            <a:endParaRPr lang="en-US" sz="1100" dirty="0"/>
          </a:p>
        </p:txBody>
      </p:sp>
      <p:sp>
        <p:nvSpPr>
          <p:cNvPr id="16" name="Shape 14"/>
          <p:cNvSpPr/>
          <p:nvPr/>
        </p:nvSpPr>
        <p:spPr>
          <a:xfrm>
            <a:off x="256032" y="1600200"/>
            <a:ext cx="11686032" cy="0"/>
          </a:xfrm>
          <a:prstGeom prst="line">
            <a:avLst/>
          </a:prstGeom>
          <a:noFill/>
          <a:ln w="12700">
            <a:solidFill>
              <a:srgbClr val="12213A"/>
            </a:solidFill>
            <a:prstDash val="solid"/>
          </a:ln>
        </p:spPr>
        <p:txBody>
          <a:bodyPr/>
          <a:lstStyle/>
          <a:p>
            <a:endParaRPr lang="en-US"/>
          </a:p>
        </p:txBody>
      </p:sp>
      <p:sp>
        <p:nvSpPr>
          <p:cNvPr id="17" name="Text 15"/>
          <p:cNvSpPr/>
          <p:nvPr/>
        </p:nvSpPr>
        <p:spPr>
          <a:xfrm>
            <a:off x="274320" y="1655064"/>
            <a:ext cx="119786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Basketball-small</a:t>
            </a:r>
            <a:endParaRPr lang="en-US" sz="1100" dirty="0"/>
          </a:p>
        </p:txBody>
      </p:sp>
      <p:sp>
        <p:nvSpPr>
          <p:cNvPr id="18" name="Text 16"/>
          <p:cNvSpPr/>
          <p:nvPr/>
        </p:nvSpPr>
        <p:spPr>
          <a:xfrm>
            <a:off x="1508760" y="1655064"/>
            <a:ext cx="58521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a:t>
            </a:r>
            <a:endParaRPr lang="en-US" sz="1100" dirty="0"/>
          </a:p>
        </p:txBody>
      </p:sp>
      <p:sp>
        <p:nvSpPr>
          <p:cNvPr id="19" name="Text 17"/>
          <p:cNvSpPr/>
          <p:nvPr/>
        </p:nvSpPr>
        <p:spPr>
          <a:xfrm>
            <a:off x="2130552" y="1655064"/>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150</a:t>
            </a:r>
            <a:endParaRPr lang="en-US" sz="1100" dirty="0"/>
          </a:p>
        </p:txBody>
      </p:sp>
      <p:sp>
        <p:nvSpPr>
          <p:cNvPr id="20" name="Text 18"/>
          <p:cNvSpPr/>
          <p:nvPr/>
        </p:nvSpPr>
        <p:spPr>
          <a:xfrm>
            <a:off x="2935224" y="1655064"/>
            <a:ext cx="101498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YOLO11n</a:t>
            </a:r>
            <a:endParaRPr lang="en-US" sz="1100" dirty="0"/>
          </a:p>
        </p:txBody>
      </p:sp>
      <p:sp>
        <p:nvSpPr>
          <p:cNvPr id="70" name="TextBox 70"/>
          <p:cNvSpPr/>
          <p:nvPr/>
        </p:nvSpPr>
        <p:spPr>
          <a:xfrm>
            <a:off x="3986784" y="1655064"/>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2.59 M</a:t>
            </a:r>
            <a:endParaRPr lang="en-US" sz="1100" dirty="0"/>
          </a:p>
        </p:txBody>
      </p:sp>
      <p:sp>
        <p:nvSpPr>
          <p:cNvPr id="21" name="Text 19"/>
          <p:cNvSpPr/>
          <p:nvPr/>
        </p:nvSpPr>
        <p:spPr>
          <a:xfrm>
            <a:off x="4791456" y="1655064"/>
            <a:ext cx="1335024" cy="448056"/>
          </a:xfrm>
          <a:prstGeom prst="rect">
            <a:avLst/>
          </a:prstGeom>
          <a:noFill/>
          <a:ln/>
        </p:spPr>
        <p:txBody>
          <a:bodyPr wrap="square" lIns="0" tIns="0" rIns="0" bIns="0" rtlCol="0" anchor="ctr">
            <a:normAutofit/>
          </a:bodyPr>
          <a:lstStyle/>
          <a:p>
            <a:r>
              <a:rPr lang="en-US" sz="1200">
                <a:solidFill>
                  <a:srgbClr val="151A23"/>
                </a:solidFill>
                <a:latin typeface="Aptos" pitchFamily="34" charset="0"/>
                <a:ea typeface="Aptos" pitchFamily="34" charset="-122"/>
                <a:cs typeface="Aptos" pitchFamily="34" charset="-120"/>
              </a:rPr>
              <a:t>CUDA: RTX PRO 6000 Blackwell</a:t>
            </a:r>
            <a:endParaRPr lang="en-US" sz="1100" dirty="0"/>
          </a:p>
        </p:txBody>
      </p:sp>
      <p:sp>
        <p:nvSpPr>
          <p:cNvPr id="22" name="Text 20"/>
          <p:cNvSpPr/>
          <p:nvPr/>
        </p:nvSpPr>
        <p:spPr>
          <a:xfrm>
            <a:off x="6163056" y="1655064"/>
            <a:ext cx="1170432" cy="448056"/>
          </a:xfrm>
          <a:prstGeom prst="rect">
            <a:avLst/>
          </a:prstGeom>
          <a:noFill/>
          <a:ln/>
        </p:spPr>
        <p:txBody>
          <a:bodyPr wrap="square" lIns="0" tIns="0" rIns="0" bIns="0" rtlCol="0" anchor="ctr">
            <a:normAutofit/>
          </a:bodyPr>
          <a:lstStyle/>
          <a:p>
            <a:pPr marL="0" indent="0">
              <a:buNone/>
            </a:pPr>
            <a:r>
              <a:rPr lang="en-US" sz="1100">
                <a:solidFill>
                  <a:srgbClr val="151A23"/>
                </a:solidFill>
                <a:latin typeface="Aptos" pitchFamily="34" charset="0"/>
                <a:ea typeface="Aptos" pitchFamily="34" charset="-122"/>
                <a:cs typeface="Aptos" pitchFamily="34" charset="-120"/>
              </a:rPr>
              <a:t>~0.9 min (?)</a:t>
            </a:r>
            <a:endParaRPr lang="en-US" sz="1100" dirty="0"/>
          </a:p>
        </p:txBody>
      </p:sp>
      <p:sp>
        <p:nvSpPr>
          <p:cNvPr id="23" name="Text 21"/>
          <p:cNvSpPr/>
          <p:nvPr/>
        </p:nvSpPr>
        <p:spPr>
          <a:xfrm>
            <a:off x="7370064" y="1655064"/>
            <a:ext cx="67665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0.565</a:t>
            </a:r>
            <a:endParaRPr lang="en-US" sz="1100" dirty="0"/>
          </a:p>
        </p:txBody>
      </p:sp>
      <p:sp>
        <p:nvSpPr>
          <p:cNvPr id="24" name="Text 22"/>
          <p:cNvSpPr/>
          <p:nvPr/>
        </p:nvSpPr>
        <p:spPr>
          <a:xfrm>
            <a:off x="8083296" y="1655064"/>
            <a:ext cx="7132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0.331</a:t>
            </a:r>
            <a:endParaRPr lang="en-US" sz="1100" dirty="0"/>
          </a:p>
        </p:txBody>
      </p:sp>
      <p:sp>
        <p:nvSpPr>
          <p:cNvPr id="25" name="Text 23"/>
          <p:cNvSpPr/>
          <p:nvPr/>
        </p:nvSpPr>
        <p:spPr>
          <a:xfrm>
            <a:off x="8833104" y="1655064"/>
            <a:ext cx="2066544" cy="448056"/>
          </a:xfrm>
          <a:prstGeom prst="rect">
            <a:avLst/>
          </a:prstGeom>
          <a:noFill/>
          <a:ln/>
        </p:spPr>
        <p:txBody>
          <a:bodyPr wrap="square" lIns="0" tIns="0" rIns="0" bIns="0" rtlCol="0" anchor="ctr">
            <a:normAutofit/>
          </a:bodyPr>
          <a:lstStyle/>
          <a:p>
            <a:pPr marL="0" indent="0">
              <a:buNone/>
            </a:pPr>
            <a:r>
              <a:rPr lang="en-US" sz="1100">
                <a:solidFill>
                  <a:srgbClr val="151A23"/>
                </a:solidFill>
                <a:latin typeface="Aptos" pitchFamily="34" charset="0"/>
                <a:ea typeface="Aptos" pitchFamily="34" charset="-122"/>
                <a:cs typeface="Aptos" pitchFamily="34" charset="-120"/>
              </a:rPr>
              <a:t>2.86 ms</a:t>
            </a:r>
            <a:endParaRPr lang="en-US" sz="1100" dirty="0"/>
          </a:p>
        </p:txBody>
      </p:sp>
      <p:sp>
        <p:nvSpPr>
          <p:cNvPr id="26" name="Shape 24"/>
          <p:cNvSpPr/>
          <p:nvPr/>
        </p:nvSpPr>
        <p:spPr>
          <a:xfrm>
            <a:off x="256032" y="2121408"/>
            <a:ext cx="11686032" cy="0"/>
          </a:xfrm>
          <a:prstGeom prst="line">
            <a:avLst/>
          </a:prstGeom>
          <a:noFill/>
          <a:ln w="5080">
            <a:solidFill>
              <a:srgbClr val="D8DEE9"/>
            </a:solidFill>
            <a:prstDash val="solid"/>
          </a:ln>
        </p:spPr>
        <p:txBody>
          <a:bodyPr/>
          <a:lstStyle/>
          <a:p>
            <a:endParaRPr lang="en-US"/>
          </a:p>
        </p:txBody>
      </p:sp>
      <p:sp>
        <p:nvSpPr>
          <p:cNvPr id="27" name="Text 25"/>
          <p:cNvSpPr/>
          <p:nvPr/>
        </p:nvSpPr>
        <p:spPr>
          <a:xfrm>
            <a:off x="274320" y="2176272"/>
            <a:ext cx="119786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Basketball-small</a:t>
            </a:r>
            <a:endParaRPr lang="en-US" sz="1100" dirty="0"/>
          </a:p>
        </p:txBody>
      </p:sp>
      <p:sp>
        <p:nvSpPr>
          <p:cNvPr id="28" name="Text 26"/>
          <p:cNvSpPr/>
          <p:nvPr/>
        </p:nvSpPr>
        <p:spPr>
          <a:xfrm>
            <a:off x="1508760" y="2176272"/>
            <a:ext cx="58521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a:t>
            </a:r>
            <a:endParaRPr lang="en-US" sz="1100" dirty="0"/>
          </a:p>
        </p:txBody>
      </p:sp>
      <p:sp>
        <p:nvSpPr>
          <p:cNvPr id="29" name="Text 27"/>
          <p:cNvSpPr/>
          <p:nvPr/>
        </p:nvSpPr>
        <p:spPr>
          <a:xfrm>
            <a:off x="2130552" y="2176272"/>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150</a:t>
            </a:r>
            <a:endParaRPr lang="en-US" sz="1100" dirty="0"/>
          </a:p>
        </p:txBody>
      </p:sp>
      <p:sp>
        <p:nvSpPr>
          <p:cNvPr id="30" name="Text 28"/>
          <p:cNvSpPr/>
          <p:nvPr/>
        </p:nvSpPr>
        <p:spPr>
          <a:xfrm>
            <a:off x="2935224" y="2176272"/>
            <a:ext cx="101498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YOLOX-Tiny</a:t>
            </a:r>
            <a:endParaRPr lang="en-US" sz="1100" dirty="0"/>
          </a:p>
        </p:txBody>
      </p:sp>
      <p:sp>
        <p:nvSpPr>
          <p:cNvPr id="71" name="TextBox 71"/>
          <p:cNvSpPr/>
          <p:nvPr/>
        </p:nvSpPr>
        <p:spPr>
          <a:xfrm>
            <a:off x="3986784" y="2176272"/>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5.03 M</a:t>
            </a:r>
            <a:endParaRPr lang="en-US" sz="1100" dirty="0"/>
          </a:p>
        </p:txBody>
      </p:sp>
      <p:sp>
        <p:nvSpPr>
          <p:cNvPr id="31" name="Text 29"/>
          <p:cNvSpPr/>
          <p:nvPr/>
        </p:nvSpPr>
        <p:spPr>
          <a:xfrm>
            <a:off x="4791456" y="2176272"/>
            <a:ext cx="1335024" cy="448056"/>
          </a:xfrm>
          <a:prstGeom prst="rect">
            <a:avLst/>
          </a:prstGeom>
          <a:noFill/>
          <a:ln/>
        </p:spPr>
        <p:txBody>
          <a:bodyPr wrap="square" lIns="0" tIns="0" rIns="0" bIns="0" rtlCol="0" anchor="ctr">
            <a:normAutofit/>
          </a:bodyPr>
          <a:lstStyle/>
          <a:p>
            <a:r>
              <a:rPr lang="en-US" sz="1200">
                <a:solidFill>
                  <a:srgbClr val="151A23"/>
                </a:solidFill>
                <a:latin typeface="Aptos" pitchFamily="34" charset="0"/>
                <a:ea typeface="Aptos" pitchFamily="34" charset="-122"/>
                <a:cs typeface="Aptos" pitchFamily="34" charset="-120"/>
              </a:rPr>
              <a:t>CUDA: RTX PRO 6000 Blackwell</a:t>
            </a:r>
            <a:endParaRPr lang="en-US" sz="1100" dirty="0"/>
          </a:p>
        </p:txBody>
      </p:sp>
      <p:sp>
        <p:nvSpPr>
          <p:cNvPr id="32" name="Text 30"/>
          <p:cNvSpPr/>
          <p:nvPr/>
        </p:nvSpPr>
        <p:spPr>
          <a:xfrm>
            <a:off x="6163056" y="2176272"/>
            <a:ext cx="11704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~5.0 min</a:t>
            </a:r>
            <a:endParaRPr lang="en-US" sz="1100" dirty="0"/>
          </a:p>
        </p:txBody>
      </p:sp>
      <p:sp>
        <p:nvSpPr>
          <p:cNvPr id="33" name="Text 31"/>
          <p:cNvSpPr/>
          <p:nvPr/>
        </p:nvSpPr>
        <p:spPr>
          <a:xfrm>
            <a:off x="7370064" y="2176272"/>
            <a:ext cx="67665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0.660</a:t>
            </a:r>
            <a:endParaRPr lang="en-US" sz="1100" dirty="0"/>
          </a:p>
        </p:txBody>
      </p:sp>
      <p:sp>
        <p:nvSpPr>
          <p:cNvPr id="34" name="Text 32"/>
          <p:cNvSpPr/>
          <p:nvPr/>
        </p:nvSpPr>
        <p:spPr>
          <a:xfrm>
            <a:off x="8083296" y="2176272"/>
            <a:ext cx="7132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0.362</a:t>
            </a:r>
            <a:endParaRPr lang="en-US" sz="1100" dirty="0"/>
          </a:p>
        </p:txBody>
      </p:sp>
      <p:sp>
        <p:nvSpPr>
          <p:cNvPr id="35" name="Text 33"/>
          <p:cNvSpPr/>
          <p:nvPr/>
        </p:nvSpPr>
        <p:spPr>
          <a:xfrm>
            <a:off x="8833104" y="2176272"/>
            <a:ext cx="2066544" cy="448056"/>
          </a:xfrm>
          <a:prstGeom prst="rect">
            <a:avLst/>
          </a:prstGeom>
          <a:noFill/>
          <a:ln/>
        </p:spPr>
        <p:txBody>
          <a:bodyPr wrap="square" lIns="0" tIns="0" rIns="0" bIns="0" rtlCol="0" anchor="ctr">
            <a:normAutofit/>
          </a:bodyPr>
          <a:lstStyle/>
          <a:p>
            <a:pPr marL="0" indent="0">
              <a:buNone/>
            </a:pPr>
            <a:r>
              <a:rPr lang="en-US" sz="1100">
                <a:solidFill>
                  <a:srgbClr val="151A23"/>
                </a:solidFill>
                <a:latin typeface="Aptos" pitchFamily="34" charset="0"/>
                <a:ea typeface="Aptos" pitchFamily="34" charset="-122"/>
                <a:cs typeface="Aptos" pitchFamily="34" charset="-120"/>
              </a:rPr>
              <a:t> 1.84 ms</a:t>
            </a:r>
            <a:endParaRPr lang="en-US" sz="1100" dirty="0"/>
          </a:p>
        </p:txBody>
      </p:sp>
      <p:sp>
        <p:nvSpPr>
          <p:cNvPr id="36" name="Shape 34"/>
          <p:cNvSpPr/>
          <p:nvPr/>
        </p:nvSpPr>
        <p:spPr>
          <a:xfrm>
            <a:off x="256032" y="2642616"/>
            <a:ext cx="11686032" cy="0"/>
          </a:xfrm>
          <a:prstGeom prst="line">
            <a:avLst/>
          </a:prstGeom>
          <a:noFill/>
          <a:ln w="5080">
            <a:solidFill>
              <a:srgbClr val="D8DEE9"/>
            </a:solidFill>
            <a:prstDash val="solid"/>
          </a:ln>
        </p:spPr>
        <p:txBody>
          <a:bodyPr/>
          <a:lstStyle/>
          <a:p>
            <a:endParaRPr lang="en-US"/>
          </a:p>
        </p:txBody>
      </p:sp>
      <p:sp>
        <p:nvSpPr>
          <p:cNvPr id="37" name="Text 35"/>
          <p:cNvSpPr/>
          <p:nvPr/>
        </p:nvSpPr>
        <p:spPr>
          <a:xfrm>
            <a:off x="274320" y="2697480"/>
            <a:ext cx="119786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Basketball-large</a:t>
            </a:r>
            <a:endParaRPr lang="en-US" sz="1100" dirty="0"/>
          </a:p>
        </p:txBody>
      </p:sp>
      <p:sp>
        <p:nvSpPr>
          <p:cNvPr id="38" name="Text 36"/>
          <p:cNvSpPr/>
          <p:nvPr/>
        </p:nvSpPr>
        <p:spPr>
          <a:xfrm>
            <a:off x="1508760" y="2697480"/>
            <a:ext cx="58521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a:t>
            </a:r>
            <a:endParaRPr lang="en-US" sz="1100" dirty="0"/>
          </a:p>
        </p:txBody>
      </p:sp>
      <p:sp>
        <p:nvSpPr>
          <p:cNvPr id="39" name="Text 37"/>
          <p:cNvSpPr/>
          <p:nvPr/>
        </p:nvSpPr>
        <p:spPr>
          <a:xfrm>
            <a:off x="2130552" y="2697480"/>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14,052</a:t>
            </a:r>
            <a:endParaRPr lang="en-US" sz="1100" dirty="0"/>
          </a:p>
        </p:txBody>
      </p:sp>
      <p:sp>
        <p:nvSpPr>
          <p:cNvPr id="40" name="Text 38"/>
          <p:cNvSpPr/>
          <p:nvPr/>
        </p:nvSpPr>
        <p:spPr>
          <a:xfrm>
            <a:off x="2935224" y="2697480"/>
            <a:ext cx="101498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YOLO11n</a:t>
            </a:r>
            <a:endParaRPr lang="en-US" sz="1100" dirty="0"/>
          </a:p>
        </p:txBody>
      </p:sp>
      <p:sp>
        <p:nvSpPr>
          <p:cNvPr id="72" name="TextBox 72"/>
          <p:cNvSpPr/>
          <p:nvPr/>
        </p:nvSpPr>
        <p:spPr>
          <a:xfrm>
            <a:off x="3986784" y="2697480"/>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2.59 M</a:t>
            </a:r>
            <a:endParaRPr lang="en-US" sz="1100" dirty="0"/>
          </a:p>
        </p:txBody>
      </p:sp>
      <p:sp>
        <p:nvSpPr>
          <p:cNvPr id="41" name="Text 39"/>
          <p:cNvSpPr/>
          <p:nvPr/>
        </p:nvSpPr>
        <p:spPr>
          <a:xfrm>
            <a:off x="4791456" y="2697480"/>
            <a:ext cx="1335024" cy="448056"/>
          </a:xfrm>
          <a:prstGeom prst="rect">
            <a:avLst/>
          </a:prstGeom>
          <a:noFill/>
          <a:ln/>
        </p:spPr>
        <p:txBody>
          <a:bodyPr wrap="square" lIns="0" tIns="0" rIns="0" bIns="0" rtlCol="0" anchor="ctr">
            <a:normAutofit/>
          </a:bodyPr>
          <a:lstStyle/>
          <a:p>
            <a:r>
              <a:rPr lang="en-US" sz="1200">
                <a:solidFill>
                  <a:srgbClr val="151A23"/>
                </a:solidFill>
                <a:latin typeface="Aptos" pitchFamily="34" charset="0"/>
                <a:ea typeface="Aptos" pitchFamily="34" charset="-122"/>
                <a:cs typeface="Aptos" pitchFamily="34" charset="-120"/>
              </a:rPr>
              <a:t>CUDA: RTX PRO 6000 Blackwell</a:t>
            </a:r>
            <a:endParaRPr lang="en-US" sz="1100" dirty="0"/>
          </a:p>
        </p:txBody>
      </p:sp>
      <p:sp>
        <p:nvSpPr>
          <p:cNvPr id="42" name="Text 40"/>
          <p:cNvSpPr/>
          <p:nvPr/>
        </p:nvSpPr>
        <p:spPr>
          <a:xfrm>
            <a:off x="6163056" y="2697480"/>
            <a:ext cx="11704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2.06 h</a:t>
            </a:r>
            <a:endParaRPr lang="en-US" sz="1100" dirty="0"/>
          </a:p>
        </p:txBody>
      </p:sp>
      <p:sp>
        <p:nvSpPr>
          <p:cNvPr id="43" name="Text 41"/>
          <p:cNvSpPr/>
          <p:nvPr/>
        </p:nvSpPr>
        <p:spPr>
          <a:xfrm>
            <a:off x="7370064" y="2697480"/>
            <a:ext cx="67665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0.969</a:t>
            </a:r>
            <a:endParaRPr lang="en-US" sz="1100" dirty="0"/>
          </a:p>
        </p:txBody>
      </p:sp>
      <p:sp>
        <p:nvSpPr>
          <p:cNvPr id="44" name="Text 42"/>
          <p:cNvSpPr/>
          <p:nvPr/>
        </p:nvSpPr>
        <p:spPr>
          <a:xfrm>
            <a:off x="8083296" y="2697480"/>
            <a:ext cx="7132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0.799</a:t>
            </a:r>
            <a:endParaRPr lang="en-US" sz="1100" dirty="0"/>
          </a:p>
        </p:txBody>
      </p:sp>
      <p:sp>
        <p:nvSpPr>
          <p:cNvPr id="45" name="Text 43"/>
          <p:cNvSpPr/>
          <p:nvPr/>
        </p:nvSpPr>
        <p:spPr>
          <a:xfrm>
            <a:off x="8833104" y="2697480"/>
            <a:ext cx="2066544" cy="448056"/>
          </a:xfrm>
          <a:prstGeom prst="rect">
            <a:avLst/>
          </a:prstGeom>
          <a:noFill/>
          <a:ln/>
        </p:spPr>
        <p:txBody>
          <a:bodyPr wrap="square" lIns="0" tIns="0" rIns="0" bIns="0" rtlCol="0" anchor="ctr">
            <a:normAutofit/>
          </a:bodyPr>
          <a:lstStyle/>
          <a:p>
            <a:pPr marL="0" indent="0">
              <a:buNone/>
            </a:pPr>
            <a:r>
              <a:rPr lang="en-US" sz="1100">
                <a:solidFill>
                  <a:srgbClr val="151A23"/>
                </a:solidFill>
                <a:latin typeface="Aptos" pitchFamily="34" charset="0"/>
                <a:ea typeface="Aptos" pitchFamily="34" charset="-122"/>
                <a:cs typeface="Aptos" pitchFamily="34" charset="-120"/>
              </a:rPr>
              <a:t>0.81 ms (?)</a:t>
            </a:r>
            <a:endParaRPr lang="en-US" sz="1100" dirty="0"/>
          </a:p>
        </p:txBody>
      </p:sp>
      <p:sp>
        <p:nvSpPr>
          <p:cNvPr id="46" name="Shape 44"/>
          <p:cNvSpPr/>
          <p:nvPr/>
        </p:nvSpPr>
        <p:spPr>
          <a:xfrm>
            <a:off x="256032" y="3163824"/>
            <a:ext cx="11686032" cy="0"/>
          </a:xfrm>
          <a:prstGeom prst="line">
            <a:avLst/>
          </a:prstGeom>
          <a:noFill/>
          <a:ln w="5080">
            <a:solidFill>
              <a:srgbClr val="D8DEE9"/>
            </a:solidFill>
            <a:prstDash val="solid"/>
          </a:ln>
        </p:spPr>
        <p:txBody>
          <a:bodyPr/>
          <a:lstStyle/>
          <a:p>
            <a:endParaRPr lang="en-US"/>
          </a:p>
        </p:txBody>
      </p:sp>
      <p:sp>
        <p:nvSpPr>
          <p:cNvPr id="47" name="Text 45"/>
          <p:cNvSpPr/>
          <p:nvPr/>
        </p:nvSpPr>
        <p:spPr>
          <a:xfrm>
            <a:off x="274320" y="3218688"/>
            <a:ext cx="119786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Basketball-large</a:t>
            </a:r>
            <a:endParaRPr lang="en-US" sz="1100" dirty="0"/>
          </a:p>
        </p:txBody>
      </p:sp>
      <p:sp>
        <p:nvSpPr>
          <p:cNvPr id="48" name="Text 46"/>
          <p:cNvSpPr/>
          <p:nvPr/>
        </p:nvSpPr>
        <p:spPr>
          <a:xfrm>
            <a:off x="1508760" y="3218688"/>
            <a:ext cx="58521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a:t>
            </a:r>
            <a:endParaRPr lang="en-US" sz="1100" dirty="0"/>
          </a:p>
        </p:txBody>
      </p:sp>
      <p:sp>
        <p:nvSpPr>
          <p:cNvPr id="49" name="Text 47"/>
          <p:cNvSpPr/>
          <p:nvPr/>
        </p:nvSpPr>
        <p:spPr>
          <a:xfrm>
            <a:off x="2130552" y="3218688"/>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14,052</a:t>
            </a:r>
            <a:endParaRPr lang="en-US" sz="1100" dirty="0"/>
          </a:p>
        </p:txBody>
      </p:sp>
      <p:sp>
        <p:nvSpPr>
          <p:cNvPr id="50" name="Text 48"/>
          <p:cNvSpPr/>
          <p:nvPr/>
        </p:nvSpPr>
        <p:spPr>
          <a:xfrm>
            <a:off x="2935224" y="3218688"/>
            <a:ext cx="101498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YOLOX-Tiny</a:t>
            </a:r>
            <a:endParaRPr lang="en-US" sz="1100" dirty="0"/>
          </a:p>
        </p:txBody>
      </p:sp>
      <p:sp>
        <p:nvSpPr>
          <p:cNvPr id="73" name="TextBox 73"/>
          <p:cNvSpPr/>
          <p:nvPr/>
        </p:nvSpPr>
        <p:spPr>
          <a:xfrm>
            <a:off x="3986784" y="3218688"/>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5.03 M</a:t>
            </a:r>
            <a:endParaRPr lang="en-US" sz="1100" dirty="0"/>
          </a:p>
        </p:txBody>
      </p:sp>
      <p:sp>
        <p:nvSpPr>
          <p:cNvPr id="51" name="Text 49"/>
          <p:cNvSpPr/>
          <p:nvPr/>
        </p:nvSpPr>
        <p:spPr>
          <a:xfrm>
            <a:off x="4791456" y="3218688"/>
            <a:ext cx="1335024" cy="448056"/>
          </a:xfrm>
          <a:prstGeom prst="rect">
            <a:avLst/>
          </a:prstGeom>
          <a:noFill/>
          <a:ln/>
        </p:spPr>
        <p:txBody>
          <a:bodyPr wrap="square" lIns="0" tIns="0" rIns="0" bIns="0" rtlCol="0" anchor="ctr">
            <a:normAutofit/>
          </a:bodyPr>
          <a:lstStyle/>
          <a:p>
            <a:r>
              <a:rPr lang="en-US" sz="1200">
                <a:solidFill>
                  <a:srgbClr val="151A23"/>
                </a:solidFill>
                <a:latin typeface="Aptos" pitchFamily="34" charset="0"/>
                <a:ea typeface="Aptos" pitchFamily="34" charset="-122"/>
                <a:cs typeface="Aptos" pitchFamily="34" charset="-120"/>
              </a:rPr>
              <a:t>CUDA: RTX PRO 6000 Blackwell</a:t>
            </a:r>
            <a:endParaRPr lang="en-US" sz="1100" dirty="0"/>
          </a:p>
        </p:txBody>
      </p:sp>
      <p:sp>
        <p:nvSpPr>
          <p:cNvPr id="52" name="Text 50"/>
          <p:cNvSpPr/>
          <p:nvPr/>
        </p:nvSpPr>
        <p:spPr>
          <a:xfrm>
            <a:off x="6163056" y="3218688"/>
            <a:ext cx="11704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5.87 h</a:t>
            </a:r>
            <a:endParaRPr lang="en-US" sz="1100" dirty="0"/>
          </a:p>
        </p:txBody>
      </p:sp>
      <p:sp>
        <p:nvSpPr>
          <p:cNvPr id="53" name="Text 51"/>
          <p:cNvSpPr/>
          <p:nvPr/>
        </p:nvSpPr>
        <p:spPr>
          <a:xfrm>
            <a:off x="7370064" y="3218688"/>
            <a:ext cx="67665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0.958</a:t>
            </a:r>
            <a:endParaRPr lang="en-US" sz="1100" dirty="0"/>
          </a:p>
        </p:txBody>
      </p:sp>
      <p:sp>
        <p:nvSpPr>
          <p:cNvPr id="54" name="Text 52"/>
          <p:cNvSpPr/>
          <p:nvPr/>
        </p:nvSpPr>
        <p:spPr>
          <a:xfrm>
            <a:off x="8083296" y="3218688"/>
            <a:ext cx="7132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0.747</a:t>
            </a:r>
            <a:endParaRPr lang="en-US" sz="1100" dirty="0"/>
          </a:p>
        </p:txBody>
      </p:sp>
      <p:sp>
        <p:nvSpPr>
          <p:cNvPr id="55" name="Text 53"/>
          <p:cNvSpPr/>
          <p:nvPr/>
        </p:nvSpPr>
        <p:spPr>
          <a:xfrm>
            <a:off x="8833104" y="3218688"/>
            <a:ext cx="2066544" cy="448056"/>
          </a:xfrm>
          <a:prstGeom prst="rect">
            <a:avLst/>
          </a:prstGeom>
          <a:noFill/>
          <a:ln/>
        </p:spPr>
        <p:txBody>
          <a:bodyPr wrap="square" lIns="0" tIns="0" rIns="0" bIns="0" rtlCol="0" anchor="ctr">
            <a:normAutofit/>
          </a:bodyPr>
          <a:lstStyle/>
          <a:p>
            <a:pPr marL="0" indent="0">
              <a:buNone/>
            </a:pPr>
            <a:r>
              <a:rPr lang="en-US" sz="1100">
                <a:solidFill>
                  <a:srgbClr val="151A23"/>
                </a:solidFill>
                <a:latin typeface="Aptos" pitchFamily="34" charset="0"/>
                <a:ea typeface="Aptos" pitchFamily="34" charset="-122"/>
                <a:cs typeface="Aptos" pitchFamily="34" charset="-120"/>
              </a:rPr>
              <a:t> 1.40 ms</a:t>
            </a:r>
            <a:endParaRPr lang="en-US" sz="1100" dirty="0"/>
          </a:p>
        </p:txBody>
      </p:sp>
      <p:sp>
        <p:nvSpPr>
          <p:cNvPr id="56" name="Shape 54"/>
          <p:cNvSpPr/>
          <p:nvPr/>
        </p:nvSpPr>
        <p:spPr>
          <a:xfrm>
            <a:off x="256032" y="3685032"/>
            <a:ext cx="11686032" cy="0"/>
          </a:xfrm>
          <a:prstGeom prst="line">
            <a:avLst/>
          </a:prstGeom>
          <a:noFill/>
          <a:ln w="5080">
            <a:solidFill>
              <a:srgbClr val="D8DEE9"/>
            </a:solidFill>
            <a:prstDash val="solid"/>
          </a:ln>
        </p:spPr>
        <p:txBody>
          <a:bodyPr/>
          <a:lstStyle/>
          <a:p>
            <a:endParaRPr lang="en-US"/>
          </a:p>
        </p:txBody>
      </p:sp>
      <p:sp>
        <p:nvSpPr>
          <p:cNvPr id="57" name="Text 55"/>
          <p:cNvSpPr/>
          <p:nvPr/>
        </p:nvSpPr>
        <p:spPr>
          <a:xfrm>
            <a:off x="274320" y="3739896"/>
            <a:ext cx="119786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Basketball-large</a:t>
            </a:r>
            <a:endParaRPr lang="en-US" sz="1100" dirty="0"/>
          </a:p>
        </p:txBody>
      </p:sp>
      <p:sp>
        <p:nvSpPr>
          <p:cNvPr id="58" name="Text 56"/>
          <p:cNvSpPr/>
          <p:nvPr/>
        </p:nvSpPr>
        <p:spPr>
          <a:xfrm>
            <a:off x="1508760" y="3739896"/>
            <a:ext cx="58521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a:t>
            </a:r>
            <a:endParaRPr lang="en-US" sz="1100" dirty="0"/>
          </a:p>
        </p:txBody>
      </p:sp>
      <p:sp>
        <p:nvSpPr>
          <p:cNvPr id="59" name="Text 57"/>
          <p:cNvSpPr/>
          <p:nvPr/>
        </p:nvSpPr>
        <p:spPr>
          <a:xfrm>
            <a:off x="2130552" y="3739896"/>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14,052</a:t>
            </a:r>
            <a:endParaRPr lang="en-US" sz="1100" dirty="0"/>
          </a:p>
        </p:txBody>
      </p:sp>
      <p:sp>
        <p:nvSpPr>
          <p:cNvPr id="60" name="Text 58"/>
          <p:cNvSpPr/>
          <p:nvPr/>
        </p:nvSpPr>
        <p:spPr>
          <a:xfrm>
            <a:off x="2935224" y="3739896"/>
            <a:ext cx="1014984"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RF-DETR Small</a:t>
            </a:r>
            <a:endParaRPr lang="en-US" sz="1100" dirty="0"/>
          </a:p>
        </p:txBody>
      </p:sp>
      <p:sp>
        <p:nvSpPr>
          <p:cNvPr id="74" name="TextBox 74"/>
          <p:cNvSpPr/>
          <p:nvPr/>
        </p:nvSpPr>
        <p:spPr>
          <a:xfrm>
            <a:off x="3986784" y="3739896"/>
            <a:ext cx="76809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32.0 M</a:t>
            </a:r>
            <a:endParaRPr lang="en-US" sz="1100" dirty="0"/>
          </a:p>
        </p:txBody>
      </p:sp>
      <p:sp>
        <p:nvSpPr>
          <p:cNvPr id="61" name="Text 59"/>
          <p:cNvSpPr/>
          <p:nvPr/>
        </p:nvSpPr>
        <p:spPr>
          <a:xfrm>
            <a:off x="4791456" y="3739896"/>
            <a:ext cx="1335024" cy="448056"/>
          </a:xfrm>
          <a:prstGeom prst="rect">
            <a:avLst/>
          </a:prstGeom>
          <a:noFill/>
          <a:ln/>
        </p:spPr>
        <p:txBody>
          <a:bodyPr wrap="square" lIns="0" tIns="0" rIns="0" bIns="0" rtlCol="0" anchor="ctr">
            <a:normAutofit/>
          </a:bodyPr>
          <a:lstStyle/>
          <a:p>
            <a:r>
              <a:rPr lang="en-US" sz="1200">
                <a:solidFill>
                  <a:srgbClr val="151A23"/>
                </a:solidFill>
                <a:latin typeface="Aptos" pitchFamily="34" charset="0"/>
                <a:ea typeface="Aptos" pitchFamily="34" charset="-122"/>
                <a:cs typeface="Aptos" pitchFamily="34" charset="-120"/>
              </a:rPr>
              <a:t>CUDA: RTX PRO 6000 Blackwell</a:t>
            </a:r>
            <a:endParaRPr lang="en-US" sz="1100" dirty="0"/>
          </a:p>
        </p:txBody>
      </p:sp>
      <p:sp>
        <p:nvSpPr>
          <p:cNvPr id="62" name="Text 60"/>
          <p:cNvSpPr/>
          <p:nvPr/>
        </p:nvSpPr>
        <p:spPr>
          <a:xfrm>
            <a:off x="6163056" y="3739896"/>
            <a:ext cx="11704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~3.6 h total*</a:t>
            </a:r>
            <a:endParaRPr lang="en-US" sz="1100" dirty="0"/>
          </a:p>
        </p:txBody>
      </p:sp>
      <p:sp>
        <p:nvSpPr>
          <p:cNvPr id="63" name="Text 61"/>
          <p:cNvSpPr/>
          <p:nvPr/>
        </p:nvSpPr>
        <p:spPr>
          <a:xfrm>
            <a:off x="7370064" y="3739896"/>
            <a:ext cx="676656"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0.977</a:t>
            </a:r>
            <a:endParaRPr lang="en-US" sz="1100" dirty="0"/>
          </a:p>
        </p:txBody>
      </p:sp>
      <p:sp>
        <p:nvSpPr>
          <p:cNvPr id="64" name="Text 62"/>
          <p:cNvSpPr/>
          <p:nvPr/>
        </p:nvSpPr>
        <p:spPr>
          <a:xfrm>
            <a:off x="8083296" y="3739896"/>
            <a:ext cx="713232" cy="448056"/>
          </a:xfrm>
          <a:prstGeom prst="rect">
            <a:avLst/>
          </a:prstGeom>
          <a:noFill/>
          <a:ln/>
        </p:spPr>
        <p:txBody>
          <a:bodyPr wrap="square" lIns="0" tIns="0" rIns="0" bIns="0" rtlCol="0" anchor="ctr">
            <a:normAutofit/>
          </a:bodyPr>
          <a:lstStyle/>
          <a:p>
            <a:pPr marL="0" indent="0">
              <a:buNone/>
            </a:pPr>
            <a:r>
              <a:rPr lang="en-US" sz="1100" dirty="0">
                <a:solidFill>
                  <a:srgbClr val="151A23"/>
                </a:solidFill>
                <a:latin typeface="Aptos" pitchFamily="34" charset="0"/>
                <a:ea typeface="Aptos" pitchFamily="34" charset="-122"/>
                <a:cs typeface="Aptos" pitchFamily="34" charset="-120"/>
              </a:rPr>
              <a:t>0.827</a:t>
            </a:r>
            <a:endParaRPr lang="en-US" sz="1100" dirty="0"/>
          </a:p>
        </p:txBody>
      </p:sp>
      <p:sp>
        <p:nvSpPr>
          <p:cNvPr id="65" name="Text 63"/>
          <p:cNvSpPr/>
          <p:nvPr/>
        </p:nvSpPr>
        <p:spPr>
          <a:xfrm>
            <a:off x="8833104" y="3739896"/>
            <a:ext cx="2066544" cy="448056"/>
          </a:xfrm>
          <a:prstGeom prst="rect">
            <a:avLst/>
          </a:prstGeom>
          <a:noFill/>
          <a:ln/>
        </p:spPr>
        <p:txBody>
          <a:bodyPr wrap="square" lIns="0" tIns="0" rIns="0" bIns="0" rtlCol="0" anchor="ctr">
            <a:normAutofit/>
          </a:bodyPr>
          <a:lstStyle/>
          <a:p>
            <a:pPr marL="0" indent="0">
              <a:buNone/>
            </a:pPr>
            <a:r>
              <a:rPr lang="en-US" sz="1100">
                <a:solidFill>
                  <a:srgbClr val="151A23"/>
                </a:solidFill>
                <a:latin typeface="Aptos" pitchFamily="34" charset="0"/>
                <a:ea typeface="Aptos" pitchFamily="34" charset="-122"/>
                <a:cs typeface="Aptos" pitchFamily="34" charset="-120"/>
              </a:rPr>
              <a:t>Not yet measured (Supposed to be faster)</a:t>
            </a:r>
            <a:endParaRPr lang="en-US" sz="1100" dirty="0"/>
          </a:p>
        </p:txBody>
      </p:sp>
      <p:sp>
        <p:nvSpPr>
          <p:cNvPr id="66" name="Shape 64"/>
          <p:cNvSpPr/>
          <p:nvPr/>
        </p:nvSpPr>
        <p:spPr>
          <a:xfrm>
            <a:off x="256032" y="4206240"/>
            <a:ext cx="11686032" cy="0"/>
          </a:xfrm>
          <a:prstGeom prst="line">
            <a:avLst/>
          </a:prstGeom>
          <a:noFill/>
          <a:ln w="5080">
            <a:solidFill>
              <a:srgbClr val="D8DEE9"/>
            </a:solidFill>
            <a:prstDash val="solid"/>
          </a:ln>
        </p:spPr>
        <p:txBody>
          <a:bodyPr/>
          <a:lstStyle/>
          <a:p>
            <a:endParaRPr lang="en-US"/>
          </a:p>
        </p:txBody>
      </p:sp>
      <p:sp>
        <p:nvSpPr>
          <p:cNvPr id="67" name="Text 65"/>
          <p:cNvSpPr/>
          <p:nvPr/>
        </p:nvSpPr>
        <p:spPr>
          <a:xfrm>
            <a:off x="548640" y="5308093"/>
            <a:ext cx="2834640" cy="201168"/>
          </a:xfrm>
          <a:prstGeom prst="rect">
            <a:avLst/>
          </a:prstGeom>
          <a:noFill/>
          <a:ln/>
        </p:spPr>
        <p:txBody>
          <a:bodyPr wrap="square" lIns="0" tIns="0" rIns="0" bIns="0" rtlCol="0" anchor="ctr"/>
          <a:lstStyle/>
          <a:p>
            <a:pPr marL="0" indent="0">
              <a:buNone/>
            </a:pPr>
            <a:r>
              <a:rPr lang="en-US" sz="1250" b="1" dirty="0">
                <a:solidFill>
                  <a:srgbClr val="F2A541"/>
                </a:solidFill>
              </a:rPr>
              <a:t>What is included</a:t>
            </a:r>
            <a:endParaRPr lang="en-US" sz="1250" dirty="0"/>
          </a:p>
        </p:txBody>
      </p:sp>
      <p:sp>
        <p:nvSpPr>
          <p:cNvPr id="68" name="Text 66"/>
          <p:cNvSpPr/>
          <p:nvPr/>
        </p:nvSpPr>
        <p:spPr>
          <a:xfrm>
            <a:off x="548640" y="5628133"/>
            <a:ext cx="6126480" cy="502920"/>
          </a:xfrm>
          <a:prstGeom prst="rect">
            <a:avLst/>
          </a:prstGeom>
          <a:noFill/>
          <a:ln/>
        </p:spPr>
        <p:txBody>
          <a:bodyPr wrap="square" lIns="0" tIns="0" rIns="0" bIns="0" rtlCol="0" anchor="ctr">
            <a:normAutofit/>
          </a:bodyPr>
          <a:lstStyle/>
          <a:p>
            <a:pPr marL="0" indent="0">
              <a:buNone/>
            </a:pPr>
            <a:r>
              <a:rPr lang="en-US" sz="1200" dirty="0">
                <a:solidFill>
                  <a:srgbClr val="151A23"/>
                </a:solidFill>
              </a:rPr>
              <a:t>Representative completed configurations only; repeated/smoke runs are omitted. Metrics are framework-native; a common evaluator is pending.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What the completed basketball baselines show</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YOLO11n and YOLOX-Tiny both improved sharply when moving from the small test dataset to the large source-separated dataset.</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08</a:t>
            </a:r>
            <a:endParaRPr lang="en-US" sz="720" dirty="0"/>
          </a:p>
        </p:txBody>
      </p:sp>
      <p:pic>
        <p:nvPicPr>
          <p:cNvPr id="9" name="Image 0" descr="/mnt/data/notebook_images/nb02.02-ultra_yolo11n_large_basketball_cell11_out0.png"/>
          <p:cNvPicPr>
            <a:picLocks noChangeAspect="1"/>
          </p:cNvPicPr>
          <p:nvPr/>
        </p:nvPicPr>
        <p:blipFill>
          <a:blip r:embed="rId3"/>
          <a:stretch>
            <a:fillRect/>
          </a:stretch>
        </p:blipFill>
        <p:spPr>
          <a:xfrm>
            <a:off x="7615274" y="768097"/>
            <a:ext cx="2916289" cy="2327140"/>
          </a:xfrm>
          <a:prstGeom prst="rect">
            <a:avLst/>
          </a:prstGeom>
        </p:spPr>
      </p:pic>
      <p:pic>
        <p:nvPicPr>
          <p:cNvPr id="10" name="Image 1" descr="/mnt/data/notebook_images/nb03.02-yolox_tiny_large_basketball_cell13_out1.png"/>
          <p:cNvPicPr>
            <a:picLocks noChangeAspect="1"/>
          </p:cNvPicPr>
          <p:nvPr/>
        </p:nvPicPr>
        <p:blipFill>
          <a:blip r:embed="rId4"/>
          <a:stretch>
            <a:fillRect/>
          </a:stretch>
        </p:blipFill>
        <p:spPr>
          <a:xfrm>
            <a:off x="7727917" y="3327162"/>
            <a:ext cx="2787683" cy="2224514"/>
          </a:xfrm>
          <a:prstGeom prst="rect">
            <a:avLst/>
          </a:prstGeom>
        </p:spPr>
      </p:pic>
      <p:sp>
        <p:nvSpPr>
          <p:cNvPr id="11" name="Text 6"/>
          <p:cNvSpPr/>
          <p:nvPr/>
        </p:nvSpPr>
        <p:spPr>
          <a:xfrm>
            <a:off x="658368" y="4983480"/>
            <a:ext cx="1828800" cy="201168"/>
          </a:xfrm>
          <a:prstGeom prst="rect">
            <a:avLst/>
          </a:prstGeom>
          <a:noFill/>
          <a:ln/>
        </p:spPr>
        <p:txBody>
          <a:bodyPr wrap="square" lIns="0" tIns="0" rIns="0" bIns="0" rtlCol="0" anchor="ctr"/>
          <a:lstStyle/>
          <a:p>
            <a:pPr marL="0" indent="0">
              <a:buNone/>
            </a:pPr>
            <a:r>
              <a:rPr lang="en-US" sz="1250" b="1" dirty="0">
                <a:solidFill>
                  <a:srgbClr val="151A23"/>
                </a:solidFill>
              </a:rPr>
              <a:t>Interpretation</a:t>
            </a:r>
            <a:endParaRPr lang="en-US" sz="1250" dirty="0"/>
          </a:p>
        </p:txBody>
      </p:sp>
      <p:sp>
        <p:nvSpPr>
          <p:cNvPr id="12" name="Text 7"/>
          <p:cNvSpPr/>
          <p:nvPr/>
        </p:nvSpPr>
        <p:spPr>
          <a:xfrm>
            <a:off x="658368" y="5303520"/>
            <a:ext cx="5349240" cy="457200"/>
          </a:xfrm>
          <a:prstGeom prst="rect">
            <a:avLst/>
          </a:prstGeom>
          <a:noFill/>
          <a:ln/>
        </p:spPr>
        <p:txBody>
          <a:bodyPr wrap="square" lIns="0" tIns="0" rIns="0" bIns="0" rtlCol="0" anchor="ctr">
            <a:normAutofit/>
          </a:bodyPr>
          <a:lstStyle/>
          <a:p>
            <a:pPr marL="0" indent="0">
              <a:buNone/>
            </a:pPr>
            <a:r>
              <a:rPr lang="en-US" sz="1220" dirty="0">
                <a:solidFill>
                  <a:srgbClr val="151A23"/>
                </a:solidFill>
              </a:rPr>
              <a:t>The large dataset made the benchmark credible. Next model changes should be evaluated against this scale, not against the 150-image pipeline-validation set.</a:t>
            </a:r>
            <a:endParaRPr lang="en-US" sz="1220" dirty="0"/>
          </a:p>
        </p:txBody>
      </p:sp>
      <p:sp>
        <p:nvSpPr>
          <p:cNvPr id="13" name="Text 8"/>
          <p:cNvSpPr/>
          <p:nvPr/>
        </p:nvSpPr>
        <p:spPr>
          <a:xfrm>
            <a:off x="8377446" y="3039297"/>
            <a:ext cx="1635234" cy="228562"/>
          </a:xfrm>
          <a:prstGeom prst="rect">
            <a:avLst/>
          </a:prstGeom>
          <a:noFill/>
          <a:ln/>
        </p:spPr>
        <p:txBody>
          <a:bodyPr wrap="square" lIns="0" tIns="0" rIns="0" bIns="0" rtlCol="0" anchor="ctr"/>
          <a:lstStyle/>
          <a:p>
            <a:pPr marL="0" indent="0">
              <a:buNone/>
            </a:pPr>
            <a:r>
              <a:rPr lang="en-US" sz="780" dirty="0">
                <a:solidFill>
                  <a:srgbClr val="6B7280"/>
                </a:solidFill>
              </a:rPr>
              <a:t>YOLO11n validation metrics</a:t>
            </a:r>
            <a:endParaRPr lang="en-US" sz="780" dirty="0"/>
          </a:p>
        </p:txBody>
      </p:sp>
      <p:sp>
        <p:nvSpPr>
          <p:cNvPr id="14" name="Text 9"/>
          <p:cNvSpPr/>
          <p:nvPr/>
        </p:nvSpPr>
        <p:spPr>
          <a:xfrm>
            <a:off x="8508843" y="5554613"/>
            <a:ext cx="1372440" cy="228988"/>
          </a:xfrm>
          <a:prstGeom prst="rect">
            <a:avLst/>
          </a:prstGeom>
          <a:noFill/>
          <a:ln/>
        </p:spPr>
        <p:txBody>
          <a:bodyPr wrap="square" lIns="0" tIns="0" rIns="0" bIns="0" rtlCol="0" anchor="ctr"/>
          <a:lstStyle/>
          <a:p>
            <a:pPr marL="0" indent="0">
              <a:buNone/>
            </a:pPr>
            <a:r>
              <a:rPr lang="en-US" sz="780" dirty="0">
                <a:solidFill>
                  <a:srgbClr val="6B7280"/>
                </a:solidFill>
              </a:rPr>
              <a:t>YOLOX-Tiny validation metrics</a:t>
            </a:r>
            <a:endParaRPr lang="en-US" sz="780" dirty="0"/>
          </a:p>
        </p:txBody>
      </p:sp>
      <p:sp>
        <p:nvSpPr>
          <p:cNvPr id="18" name="Text 15">
            <a:extLst>
              <a:ext uri="{FF2B5EF4-FFF2-40B4-BE49-F238E27FC236}">
                <a16:creationId xmlns:a16="http://schemas.microsoft.com/office/drawing/2014/main" id="{BBCC65F8-C7A1-D066-44D2-34E5F1C43CD2}"/>
              </a:ext>
            </a:extLst>
          </p:cNvPr>
          <p:cNvSpPr/>
          <p:nvPr/>
        </p:nvSpPr>
        <p:spPr>
          <a:xfrm>
            <a:off x="1467281" y="1133856"/>
            <a:ext cx="4427908" cy="293336"/>
          </a:xfrm>
          <a:prstGeom prst="rect">
            <a:avLst/>
          </a:prstGeom>
          <a:noFill/>
          <a:ln/>
        </p:spPr>
        <p:txBody>
          <a:bodyPr wrap="square" lIns="0" tIns="0" rIns="0" bIns="0" rtlCol="0" anchor="ctr"/>
          <a:lstStyle/>
          <a:p>
            <a:pPr marL="0" indent="0">
              <a:buNone/>
            </a:pPr>
            <a:r>
              <a:rPr lang="en-US" sz="1200" b="1" dirty="0">
                <a:solidFill>
                  <a:srgbClr val="151A23"/>
                </a:solidFill>
              </a:rPr>
              <a:t>Held-out test mAP50-95: small vs large dataset</a:t>
            </a:r>
            <a:endParaRPr lang="en-US" sz="1200" dirty="0"/>
          </a:p>
        </p:txBody>
      </p:sp>
      <p:graphicFrame>
        <p:nvGraphicFramePr>
          <p:cNvPr id="19" name="Chart 0">
            <a:extLst>
              <a:ext uri="{FF2B5EF4-FFF2-40B4-BE49-F238E27FC236}">
                <a16:creationId xmlns:a16="http://schemas.microsoft.com/office/drawing/2014/main" id="{0952E355-5231-00FB-45DB-0631EAF3DE19}"/>
              </a:ext>
            </a:extLst>
          </p:cNvPr>
          <p:cNvGraphicFramePr/>
          <p:nvPr>
            <p:extLst>
              <p:ext uri="{D42A27DB-BD31-4B8C-83A1-F6EECF244321}">
                <p14:modId xmlns:p14="http://schemas.microsoft.com/office/powerpoint/2010/main" val="198780465"/>
              </p:ext>
            </p:extLst>
          </p:nvPr>
        </p:nvGraphicFramePr>
        <p:xfrm>
          <a:off x="1211249" y="1426472"/>
          <a:ext cx="4752230" cy="3118075"/>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RF-DETR Small: completed benchmark</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Large-basketball run completed on Renku CUDA; selected epoch 27 by validation AP50:95.</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09</a:t>
            </a:r>
            <a:endParaRPr lang="en-US" sz="720" dirty="0"/>
          </a:p>
        </p:txBody>
      </p:sp>
      <p:sp>
        <p:nvSpPr>
          <p:cNvPr id="7" name="Text 5"/>
          <p:cNvSpPr/>
          <p:nvPr/>
        </p:nvSpPr>
        <p:spPr>
          <a:xfrm>
            <a:off x="658368" y="1115568"/>
            <a:ext cx="1508760" cy="658368"/>
          </a:xfrm>
          <a:prstGeom prst="rect">
            <a:avLst/>
          </a:prstGeom>
          <a:noFill/>
          <a:ln/>
        </p:spPr>
        <p:txBody>
          <a:bodyPr wrap="square" lIns="0" tIns="0" rIns="0" bIns="0" rtlCol="0" anchor="ctr">
            <a:normAutofit/>
          </a:bodyPr>
          <a:lstStyle/>
          <a:p>
            <a:pPr marL="0" indent="0">
              <a:buNone/>
            </a:pPr>
            <a:r>
              <a:rPr lang="en-US" sz="1150" dirty="0">
                <a:solidFill>
                  <a:srgbClr val="151A23"/>
                </a:solidFill>
                <a:latin typeface="Aptos" pitchFamily="34" charset="0"/>
                <a:ea typeface="Aptos" pitchFamily="34" charset="-122"/>
                <a:cs typeface="Aptos" pitchFamily="34" charset="-120"/>
              </a:rPr>
              <a:t>0.9772</a:t>
            </a:r>
            <a:endParaRPr lang="en-US" sz="1150" dirty="0"/>
          </a:p>
          <a:p>
            <a:pPr marL="0" indent="0">
              <a:buNone/>
            </a:pPr>
            <a:r>
              <a:rPr lang="en-US" sz="1150" dirty="0">
                <a:solidFill>
                  <a:srgbClr val="151A23"/>
                </a:solidFill>
                <a:latin typeface="Aptos" pitchFamily="34" charset="0"/>
                <a:ea typeface="Aptos" pitchFamily="34" charset="-122"/>
                <a:cs typeface="Aptos" pitchFamily="34" charset="-120"/>
              </a:rPr>
              <a:t>Held-out test AP50</a:t>
            </a:r>
            <a:endParaRPr lang="en-US" sz="1150" dirty="0"/>
          </a:p>
        </p:txBody>
      </p:sp>
      <p:sp>
        <p:nvSpPr>
          <p:cNvPr id="8" name="Shape 6"/>
          <p:cNvSpPr/>
          <p:nvPr/>
        </p:nvSpPr>
        <p:spPr>
          <a:xfrm>
            <a:off x="658368" y="1847088"/>
            <a:ext cx="1143000" cy="0"/>
          </a:xfrm>
          <a:prstGeom prst="line">
            <a:avLst/>
          </a:prstGeom>
          <a:noFill/>
          <a:ln w="25400">
            <a:solidFill>
              <a:srgbClr val="2AA7A5"/>
            </a:solidFill>
            <a:prstDash val="solid"/>
          </a:ln>
        </p:spPr>
        <p:txBody>
          <a:bodyPr/>
          <a:lstStyle/>
          <a:p>
            <a:endParaRPr lang="en-US"/>
          </a:p>
        </p:txBody>
      </p:sp>
      <p:sp>
        <p:nvSpPr>
          <p:cNvPr id="9" name="Text 7"/>
          <p:cNvSpPr/>
          <p:nvPr/>
        </p:nvSpPr>
        <p:spPr>
          <a:xfrm>
            <a:off x="2450592" y="1115568"/>
            <a:ext cx="1691640" cy="658368"/>
          </a:xfrm>
          <a:prstGeom prst="rect">
            <a:avLst/>
          </a:prstGeom>
          <a:noFill/>
          <a:ln/>
        </p:spPr>
        <p:txBody>
          <a:bodyPr wrap="square" lIns="0" tIns="0" rIns="0" bIns="0" rtlCol="0" anchor="ctr">
            <a:normAutofit/>
          </a:bodyPr>
          <a:lstStyle/>
          <a:p>
            <a:pPr marL="0" indent="0">
              <a:buNone/>
            </a:pPr>
            <a:r>
              <a:rPr lang="en-US" sz="1150" dirty="0">
                <a:solidFill>
                  <a:srgbClr val="151A23"/>
                </a:solidFill>
                <a:latin typeface="Aptos" pitchFamily="34" charset="0"/>
                <a:ea typeface="Aptos" pitchFamily="34" charset="-122"/>
                <a:cs typeface="Aptos" pitchFamily="34" charset="-120"/>
              </a:rPr>
              <a:t>0.8265</a:t>
            </a:r>
            <a:endParaRPr lang="en-US" sz="1150" dirty="0"/>
          </a:p>
          <a:p>
            <a:pPr marL="0" indent="0">
              <a:buNone/>
            </a:pPr>
            <a:r>
              <a:rPr lang="en-US" sz="1150" dirty="0">
                <a:solidFill>
                  <a:srgbClr val="151A23"/>
                </a:solidFill>
                <a:latin typeface="Aptos" pitchFamily="34" charset="0"/>
                <a:ea typeface="Aptos" pitchFamily="34" charset="-122"/>
                <a:cs typeface="Aptos" pitchFamily="34" charset="-120"/>
              </a:rPr>
              <a:t>Held-out test AP50:95</a:t>
            </a:r>
            <a:endParaRPr lang="en-US" sz="1150" dirty="0"/>
          </a:p>
        </p:txBody>
      </p:sp>
      <p:sp>
        <p:nvSpPr>
          <p:cNvPr id="10" name="Shape 8"/>
          <p:cNvSpPr/>
          <p:nvPr/>
        </p:nvSpPr>
        <p:spPr>
          <a:xfrm>
            <a:off x="2450592" y="1847088"/>
            <a:ext cx="1143000" cy="0"/>
          </a:xfrm>
          <a:prstGeom prst="line">
            <a:avLst/>
          </a:prstGeom>
          <a:noFill/>
          <a:ln w="25400">
            <a:solidFill>
              <a:srgbClr val="F2A541"/>
            </a:solidFill>
            <a:prstDash val="solid"/>
          </a:ln>
        </p:spPr>
        <p:txBody>
          <a:bodyPr/>
          <a:lstStyle/>
          <a:p>
            <a:endParaRPr lang="en-US"/>
          </a:p>
        </p:txBody>
      </p:sp>
      <p:sp>
        <p:nvSpPr>
          <p:cNvPr id="11" name="Text 9"/>
          <p:cNvSpPr/>
          <p:nvPr/>
        </p:nvSpPr>
        <p:spPr>
          <a:xfrm>
            <a:off x="4480560" y="1115568"/>
            <a:ext cx="2103120" cy="658368"/>
          </a:xfrm>
          <a:prstGeom prst="rect">
            <a:avLst/>
          </a:prstGeom>
          <a:noFill/>
          <a:ln/>
        </p:spPr>
        <p:txBody>
          <a:bodyPr wrap="square" lIns="0" tIns="0" rIns="0" bIns="0" rtlCol="0" anchor="ctr">
            <a:normAutofit/>
          </a:bodyPr>
          <a:lstStyle/>
          <a:p>
            <a:pPr marL="0" indent="0">
              <a:buNone/>
            </a:pPr>
            <a:r>
              <a:rPr lang="en-US" sz="1150" dirty="0">
                <a:solidFill>
                  <a:srgbClr val="151A23"/>
                </a:solidFill>
                <a:latin typeface="Aptos" pitchFamily="34" charset="0"/>
                <a:ea typeface="Aptos" pitchFamily="34" charset="-122"/>
                <a:cs typeface="Aptos" pitchFamily="34" charset="-120"/>
              </a:rPr>
              <a:t>0.9529 / 0.9745</a:t>
            </a:r>
            <a:endParaRPr lang="en-US" sz="1150" dirty="0"/>
          </a:p>
          <a:p>
            <a:pPr marL="0" indent="0">
              <a:buNone/>
            </a:pPr>
            <a:r>
              <a:rPr lang="en-US" sz="1150" dirty="0">
                <a:solidFill>
                  <a:srgbClr val="151A23"/>
                </a:solidFill>
                <a:latin typeface="Aptos" pitchFamily="34" charset="0"/>
                <a:ea typeface="Aptos" pitchFamily="34" charset="-122"/>
                <a:cs typeface="Aptos" pitchFamily="34" charset="-120"/>
              </a:rPr>
              <a:t>Precision / Recall</a:t>
            </a:r>
            <a:endParaRPr lang="en-US" sz="1150" dirty="0"/>
          </a:p>
        </p:txBody>
      </p:sp>
      <p:sp>
        <p:nvSpPr>
          <p:cNvPr id="12" name="Shape 10"/>
          <p:cNvSpPr/>
          <p:nvPr/>
        </p:nvSpPr>
        <p:spPr>
          <a:xfrm>
            <a:off x="4480560" y="1847088"/>
            <a:ext cx="1143000" cy="0"/>
          </a:xfrm>
          <a:prstGeom prst="line">
            <a:avLst/>
          </a:prstGeom>
          <a:noFill/>
          <a:ln w="25400">
            <a:solidFill>
              <a:srgbClr val="2AA7A5"/>
            </a:solidFill>
            <a:prstDash val="solid"/>
          </a:ln>
        </p:spPr>
        <p:txBody>
          <a:bodyPr/>
          <a:lstStyle/>
          <a:p>
            <a:endParaRPr lang="en-US"/>
          </a:p>
        </p:txBody>
      </p:sp>
      <p:sp>
        <p:nvSpPr>
          <p:cNvPr id="13" name="Text 11"/>
          <p:cNvSpPr/>
          <p:nvPr/>
        </p:nvSpPr>
        <p:spPr>
          <a:xfrm>
            <a:off x="6903720" y="1115568"/>
            <a:ext cx="1463040" cy="868680"/>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Epoch 27</a:t>
            </a:r>
            <a:endParaRPr lang="en-US" sz="1050" dirty="0"/>
          </a:p>
          <a:p>
            <a:pPr marL="0" indent="0">
              <a:buNone/>
            </a:pPr>
            <a:r>
              <a:rPr lang="en-US" sz="1050" dirty="0">
                <a:solidFill>
                  <a:srgbClr val="151A23"/>
                </a:solidFill>
                <a:latin typeface="Aptos" pitchFamily="34" charset="0"/>
                <a:ea typeface="Aptos" pitchFamily="34" charset="-122"/>
                <a:cs typeface="Aptos" pitchFamily="34" charset="-120"/>
              </a:rPr>
              <a:t>Selected checkpoint</a:t>
            </a:r>
            <a:endParaRPr lang="en-US" sz="1050" dirty="0"/>
          </a:p>
          <a:p>
            <a:pPr marL="0" indent="0">
              <a:buNone/>
            </a:pPr>
            <a:r>
              <a:rPr lang="en-US" sz="1050" dirty="0">
                <a:solidFill>
                  <a:srgbClr val="151A23"/>
                </a:solidFill>
                <a:latin typeface="Aptos" pitchFamily="34" charset="0"/>
                <a:ea typeface="Aptos" pitchFamily="34" charset="-122"/>
                <a:cs typeface="Aptos" pitchFamily="34" charset="-120"/>
              </a:rPr>
              <a:t>regular weights</a:t>
            </a:r>
            <a:endParaRPr lang="en-US" sz="1050" dirty="0"/>
          </a:p>
        </p:txBody>
      </p:sp>
      <p:sp>
        <p:nvSpPr>
          <p:cNvPr id="14" name="Shape 12"/>
          <p:cNvSpPr/>
          <p:nvPr/>
        </p:nvSpPr>
        <p:spPr>
          <a:xfrm>
            <a:off x="6903720" y="2048256"/>
            <a:ext cx="1143000" cy="0"/>
          </a:xfrm>
          <a:prstGeom prst="line">
            <a:avLst/>
          </a:prstGeom>
          <a:noFill/>
          <a:ln w="25400">
            <a:solidFill>
              <a:srgbClr val="30415F"/>
            </a:solidFill>
            <a:prstDash val="solid"/>
          </a:ln>
        </p:spPr>
        <p:txBody>
          <a:bodyPr/>
          <a:lstStyle/>
          <a:p>
            <a:endParaRPr lang="en-US"/>
          </a:p>
        </p:txBody>
      </p:sp>
      <p:sp>
        <p:nvSpPr>
          <p:cNvPr id="15" name="Text 13"/>
          <p:cNvSpPr/>
          <p:nvPr/>
        </p:nvSpPr>
        <p:spPr>
          <a:xfrm>
            <a:off x="8732520" y="1115568"/>
            <a:ext cx="1371600" cy="868680"/>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~3.6 h</a:t>
            </a:r>
            <a:endParaRPr lang="en-US" sz="1050" dirty="0"/>
          </a:p>
          <a:p>
            <a:pPr marL="0" indent="0">
              <a:buNone/>
            </a:pPr>
            <a:r>
              <a:rPr lang="en-US" sz="1050" dirty="0">
                <a:solidFill>
                  <a:srgbClr val="151A23"/>
                </a:solidFill>
                <a:latin typeface="Aptos" pitchFamily="34" charset="0"/>
                <a:ea typeface="Aptos" pitchFamily="34" charset="-122"/>
                <a:cs typeface="Aptos" pitchFamily="34" charset="-120"/>
              </a:rPr>
              <a:t>Observed training time</a:t>
            </a:r>
            <a:endParaRPr lang="en-US" sz="1050" dirty="0"/>
          </a:p>
          <a:p>
            <a:pPr marL="0" indent="0">
              <a:buNone/>
            </a:pPr>
            <a:r>
              <a:rPr lang="en-US" sz="1050" dirty="0">
                <a:solidFill>
                  <a:srgbClr val="151A23"/>
                </a:solidFill>
                <a:latin typeface="Aptos" pitchFamily="34" charset="0"/>
                <a:ea typeface="Aptos" pitchFamily="34" charset="-122"/>
                <a:cs typeface="Aptos" pitchFamily="34" charset="-120"/>
              </a:rPr>
              <a:t>interrupted + resumed</a:t>
            </a:r>
            <a:endParaRPr lang="en-US" sz="1050" dirty="0"/>
          </a:p>
        </p:txBody>
      </p:sp>
      <p:sp>
        <p:nvSpPr>
          <p:cNvPr id="16" name="Shape 14"/>
          <p:cNvSpPr/>
          <p:nvPr/>
        </p:nvSpPr>
        <p:spPr>
          <a:xfrm>
            <a:off x="8732520" y="2048256"/>
            <a:ext cx="1143000" cy="0"/>
          </a:xfrm>
          <a:prstGeom prst="line">
            <a:avLst/>
          </a:prstGeom>
          <a:noFill/>
          <a:ln w="25400">
            <a:solidFill>
              <a:srgbClr val="30415F"/>
            </a:solidFill>
            <a:prstDash val="solid"/>
          </a:ln>
        </p:spPr>
        <p:txBody>
          <a:bodyPr/>
          <a:lstStyle/>
          <a:p>
            <a:endParaRPr lang="en-US"/>
          </a:p>
        </p:txBody>
      </p:sp>
      <p:sp>
        <p:nvSpPr>
          <p:cNvPr id="17" name="Text 15"/>
          <p:cNvSpPr/>
          <p:nvPr/>
        </p:nvSpPr>
        <p:spPr>
          <a:xfrm>
            <a:off x="676656" y="2551176"/>
            <a:ext cx="969264" cy="329184"/>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Split</a:t>
            </a:r>
            <a:endParaRPr lang="en-US" sz="850" dirty="0"/>
          </a:p>
        </p:txBody>
      </p:sp>
      <p:sp>
        <p:nvSpPr>
          <p:cNvPr id="18" name="Text 16"/>
          <p:cNvSpPr/>
          <p:nvPr/>
        </p:nvSpPr>
        <p:spPr>
          <a:xfrm>
            <a:off x="1682496" y="2551176"/>
            <a:ext cx="786384" cy="329184"/>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AP50</a:t>
            </a:r>
            <a:endParaRPr lang="en-US" sz="850" dirty="0"/>
          </a:p>
        </p:txBody>
      </p:sp>
      <p:sp>
        <p:nvSpPr>
          <p:cNvPr id="19" name="Text 17"/>
          <p:cNvSpPr/>
          <p:nvPr/>
        </p:nvSpPr>
        <p:spPr>
          <a:xfrm>
            <a:off x="2505456" y="2551176"/>
            <a:ext cx="877824" cy="329184"/>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AP50:95</a:t>
            </a:r>
            <a:endParaRPr lang="en-US" sz="850" dirty="0"/>
          </a:p>
        </p:txBody>
      </p:sp>
      <p:sp>
        <p:nvSpPr>
          <p:cNvPr id="20" name="Text 18"/>
          <p:cNvSpPr/>
          <p:nvPr/>
        </p:nvSpPr>
        <p:spPr>
          <a:xfrm>
            <a:off x="3419856" y="2551176"/>
            <a:ext cx="877824" cy="329184"/>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Precision</a:t>
            </a:r>
            <a:endParaRPr lang="en-US" sz="850" dirty="0"/>
          </a:p>
        </p:txBody>
      </p:sp>
      <p:sp>
        <p:nvSpPr>
          <p:cNvPr id="21" name="Text 19"/>
          <p:cNvSpPr/>
          <p:nvPr/>
        </p:nvSpPr>
        <p:spPr>
          <a:xfrm>
            <a:off x="4334256" y="2551176"/>
            <a:ext cx="786384" cy="329184"/>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Recall</a:t>
            </a:r>
            <a:endParaRPr lang="en-US" sz="850" dirty="0"/>
          </a:p>
        </p:txBody>
      </p:sp>
      <p:sp>
        <p:nvSpPr>
          <p:cNvPr id="22" name="Text 20"/>
          <p:cNvSpPr/>
          <p:nvPr/>
        </p:nvSpPr>
        <p:spPr>
          <a:xfrm>
            <a:off x="5157216" y="2551176"/>
            <a:ext cx="649224" cy="329184"/>
          </a:xfrm>
          <a:prstGeom prst="rect">
            <a:avLst/>
          </a:prstGeom>
          <a:noFill/>
          <a:ln/>
        </p:spPr>
        <p:txBody>
          <a:bodyPr wrap="square" lIns="0" tIns="0" rIns="0" bIns="0" rtlCol="0" anchor="ctr">
            <a:normAutofit/>
          </a:bodyPr>
          <a:lstStyle/>
          <a:p>
            <a:pPr marL="0" indent="0">
              <a:buNone/>
            </a:pPr>
            <a:r>
              <a:rPr lang="en-US" sz="850" b="1" dirty="0">
                <a:solidFill>
                  <a:srgbClr val="12213A"/>
                </a:solidFill>
                <a:latin typeface="Aptos" pitchFamily="34" charset="0"/>
                <a:ea typeface="Aptos" pitchFamily="34" charset="-122"/>
                <a:cs typeface="Aptos" pitchFamily="34" charset="-120"/>
              </a:rPr>
              <a:t>F1</a:t>
            </a:r>
            <a:endParaRPr lang="en-US" sz="850" dirty="0"/>
          </a:p>
        </p:txBody>
      </p:sp>
      <p:sp>
        <p:nvSpPr>
          <p:cNvPr id="23" name="Shape 21"/>
          <p:cNvSpPr/>
          <p:nvPr/>
        </p:nvSpPr>
        <p:spPr>
          <a:xfrm>
            <a:off x="658368" y="2898648"/>
            <a:ext cx="5166360" cy="0"/>
          </a:xfrm>
          <a:prstGeom prst="line">
            <a:avLst/>
          </a:prstGeom>
          <a:noFill/>
          <a:ln w="12700">
            <a:solidFill>
              <a:srgbClr val="12213A"/>
            </a:solidFill>
            <a:prstDash val="solid"/>
          </a:ln>
        </p:spPr>
        <p:txBody>
          <a:bodyPr/>
          <a:lstStyle/>
          <a:p>
            <a:endParaRPr lang="en-US"/>
          </a:p>
        </p:txBody>
      </p:sp>
      <p:sp>
        <p:nvSpPr>
          <p:cNvPr id="24" name="Text 22"/>
          <p:cNvSpPr/>
          <p:nvPr/>
        </p:nvSpPr>
        <p:spPr>
          <a:xfrm>
            <a:off x="676656" y="2953512"/>
            <a:ext cx="96926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Validation</a:t>
            </a:r>
            <a:endParaRPr lang="en-US" sz="860" dirty="0"/>
          </a:p>
        </p:txBody>
      </p:sp>
      <p:sp>
        <p:nvSpPr>
          <p:cNvPr id="25" name="Text 23"/>
          <p:cNvSpPr/>
          <p:nvPr/>
        </p:nvSpPr>
        <p:spPr>
          <a:xfrm>
            <a:off x="1682496" y="2953512"/>
            <a:ext cx="78638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0.9812</a:t>
            </a:r>
            <a:endParaRPr lang="en-US" sz="860" dirty="0"/>
          </a:p>
        </p:txBody>
      </p:sp>
      <p:sp>
        <p:nvSpPr>
          <p:cNvPr id="26" name="Text 24"/>
          <p:cNvSpPr/>
          <p:nvPr/>
        </p:nvSpPr>
        <p:spPr>
          <a:xfrm>
            <a:off x="2505456" y="2953512"/>
            <a:ext cx="87782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0.8149</a:t>
            </a:r>
            <a:endParaRPr lang="en-US" sz="860" dirty="0"/>
          </a:p>
        </p:txBody>
      </p:sp>
      <p:sp>
        <p:nvSpPr>
          <p:cNvPr id="27" name="Text 25"/>
          <p:cNvSpPr/>
          <p:nvPr/>
        </p:nvSpPr>
        <p:spPr>
          <a:xfrm>
            <a:off x="3419856" y="2953512"/>
            <a:ext cx="87782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0.9659</a:t>
            </a:r>
            <a:endParaRPr lang="en-US" sz="860" dirty="0"/>
          </a:p>
        </p:txBody>
      </p:sp>
      <p:sp>
        <p:nvSpPr>
          <p:cNvPr id="28" name="Text 26"/>
          <p:cNvSpPr/>
          <p:nvPr/>
        </p:nvSpPr>
        <p:spPr>
          <a:xfrm>
            <a:off x="4334256" y="2953512"/>
            <a:ext cx="78638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0.9815</a:t>
            </a:r>
            <a:endParaRPr lang="en-US" sz="860" dirty="0"/>
          </a:p>
        </p:txBody>
      </p:sp>
      <p:sp>
        <p:nvSpPr>
          <p:cNvPr id="29" name="Text 27"/>
          <p:cNvSpPr/>
          <p:nvPr/>
        </p:nvSpPr>
        <p:spPr>
          <a:xfrm>
            <a:off x="5157216" y="2953512"/>
            <a:ext cx="64922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0.9736</a:t>
            </a:r>
            <a:endParaRPr lang="en-US" sz="860" dirty="0"/>
          </a:p>
        </p:txBody>
      </p:sp>
      <p:sp>
        <p:nvSpPr>
          <p:cNvPr id="30" name="Shape 28"/>
          <p:cNvSpPr/>
          <p:nvPr/>
        </p:nvSpPr>
        <p:spPr>
          <a:xfrm>
            <a:off x="658368" y="3300984"/>
            <a:ext cx="5166360" cy="0"/>
          </a:xfrm>
          <a:prstGeom prst="line">
            <a:avLst/>
          </a:prstGeom>
          <a:noFill/>
          <a:ln w="5080">
            <a:solidFill>
              <a:srgbClr val="D8DEE9"/>
            </a:solidFill>
            <a:prstDash val="solid"/>
          </a:ln>
        </p:spPr>
        <p:txBody>
          <a:bodyPr/>
          <a:lstStyle/>
          <a:p>
            <a:endParaRPr lang="en-US"/>
          </a:p>
        </p:txBody>
      </p:sp>
      <p:sp>
        <p:nvSpPr>
          <p:cNvPr id="31" name="Text 29"/>
          <p:cNvSpPr/>
          <p:nvPr/>
        </p:nvSpPr>
        <p:spPr>
          <a:xfrm>
            <a:off x="676656" y="3355848"/>
            <a:ext cx="96926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Test</a:t>
            </a:r>
            <a:endParaRPr lang="en-US" sz="860" dirty="0"/>
          </a:p>
        </p:txBody>
      </p:sp>
      <p:sp>
        <p:nvSpPr>
          <p:cNvPr id="32" name="Text 30"/>
          <p:cNvSpPr/>
          <p:nvPr/>
        </p:nvSpPr>
        <p:spPr>
          <a:xfrm>
            <a:off x="1682496" y="3355848"/>
            <a:ext cx="78638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0.9772</a:t>
            </a:r>
            <a:endParaRPr lang="en-US" sz="860" dirty="0"/>
          </a:p>
        </p:txBody>
      </p:sp>
      <p:sp>
        <p:nvSpPr>
          <p:cNvPr id="33" name="Text 31"/>
          <p:cNvSpPr/>
          <p:nvPr/>
        </p:nvSpPr>
        <p:spPr>
          <a:xfrm>
            <a:off x="2505456" y="3355848"/>
            <a:ext cx="87782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0.8265</a:t>
            </a:r>
            <a:endParaRPr lang="en-US" sz="860" dirty="0"/>
          </a:p>
        </p:txBody>
      </p:sp>
      <p:sp>
        <p:nvSpPr>
          <p:cNvPr id="34" name="Text 32"/>
          <p:cNvSpPr/>
          <p:nvPr/>
        </p:nvSpPr>
        <p:spPr>
          <a:xfrm>
            <a:off x="3419856" y="3355848"/>
            <a:ext cx="87782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0.9529</a:t>
            </a:r>
            <a:endParaRPr lang="en-US" sz="860" dirty="0"/>
          </a:p>
        </p:txBody>
      </p:sp>
      <p:sp>
        <p:nvSpPr>
          <p:cNvPr id="35" name="Text 33"/>
          <p:cNvSpPr/>
          <p:nvPr/>
        </p:nvSpPr>
        <p:spPr>
          <a:xfrm>
            <a:off x="4334256" y="3355848"/>
            <a:ext cx="78638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0.9745</a:t>
            </a:r>
            <a:endParaRPr lang="en-US" sz="860" dirty="0"/>
          </a:p>
        </p:txBody>
      </p:sp>
      <p:sp>
        <p:nvSpPr>
          <p:cNvPr id="36" name="Text 34"/>
          <p:cNvSpPr/>
          <p:nvPr/>
        </p:nvSpPr>
        <p:spPr>
          <a:xfrm>
            <a:off x="5157216" y="3355848"/>
            <a:ext cx="649224" cy="329184"/>
          </a:xfrm>
          <a:prstGeom prst="rect">
            <a:avLst/>
          </a:prstGeom>
          <a:noFill/>
          <a:ln/>
        </p:spPr>
        <p:txBody>
          <a:bodyPr wrap="square" lIns="0" tIns="0" rIns="0" bIns="0" rtlCol="0" anchor="ctr">
            <a:normAutofit/>
          </a:bodyPr>
          <a:lstStyle/>
          <a:p>
            <a:pPr marL="0" indent="0">
              <a:buNone/>
            </a:pPr>
            <a:r>
              <a:rPr lang="en-US" sz="860" dirty="0">
                <a:solidFill>
                  <a:srgbClr val="151A23"/>
                </a:solidFill>
                <a:latin typeface="Aptos" pitchFamily="34" charset="0"/>
                <a:ea typeface="Aptos" pitchFamily="34" charset="-122"/>
                <a:cs typeface="Aptos" pitchFamily="34" charset="-120"/>
              </a:rPr>
              <a:t>0.9636</a:t>
            </a:r>
            <a:endParaRPr lang="en-US" sz="860" dirty="0"/>
          </a:p>
        </p:txBody>
      </p:sp>
      <p:sp>
        <p:nvSpPr>
          <p:cNvPr id="37" name="Shape 35"/>
          <p:cNvSpPr/>
          <p:nvPr/>
        </p:nvSpPr>
        <p:spPr>
          <a:xfrm>
            <a:off x="658368" y="3703320"/>
            <a:ext cx="5166360" cy="0"/>
          </a:xfrm>
          <a:prstGeom prst="line">
            <a:avLst/>
          </a:prstGeom>
          <a:noFill/>
          <a:ln w="5080">
            <a:solidFill>
              <a:srgbClr val="D8DEE9"/>
            </a:solidFill>
            <a:prstDash val="solid"/>
          </a:ln>
        </p:spPr>
        <p:txBody>
          <a:bodyPr/>
          <a:lstStyle/>
          <a:p>
            <a:endParaRPr lang="en-US"/>
          </a:p>
        </p:txBody>
      </p:sp>
      <p:sp>
        <p:nvSpPr>
          <p:cNvPr id="38" name="Text 36"/>
          <p:cNvSpPr/>
          <p:nvPr/>
        </p:nvSpPr>
        <p:spPr>
          <a:xfrm>
            <a:off x="658368" y="3822192"/>
            <a:ext cx="2011680" cy="219456"/>
          </a:xfrm>
          <a:prstGeom prst="rect">
            <a:avLst/>
          </a:prstGeom>
          <a:noFill/>
          <a:ln/>
        </p:spPr>
        <p:txBody>
          <a:bodyPr wrap="square" lIns="0" tIns="0" rIns="0" bIns="0" rtlCol="0" anchor="ctr"/>
          <a:lstStyle/>
          <a:p>
            <a:pPr marL="0" indent="0">
              <a:buNone/>
            </a:pPr>
            <a:r>
              <a:rPr lang="en-US" sz="1250" b="1" dirty="0">
                <a:solidFill>
                  <a:srgbClr val="151A23"/>
                </a:solidFill>
              </a:rPr>
              <a:t>Training behaviour</a:t>
            </a:r>
            <a:endParaRPr lang="en-US" sz="1250" dirty="0"/>
          </a:p>
        </p:txBody>
      </p:sp>
      <p:pic>
        <p:nvPicPr>
          <p:cNvPr id="39" name="Image 0" descr="/mnt/data/notebook_images/nb04.02-rfdetr_small_large_basketball_cell10_out1.png"/>
          <p:cNvPicPr>
            <a:picLocks noChangeAspect="1"/>
          </p:cNvPicPr>
          <p:nvPr/>
        </p:nvPicPr>
        <p:blipFill>
          <a:blip r:embed="rId3"/>
          <a:stretch>
            <a:fillRect/>
          </a:stretch>
        </p:blipFill>
        <p:spPr>
          <a:xfrm>
            <a:off x="1558700" y="4133088"/>
            <a:ext cx="3365695" cy="1325880"/>
          </a:xfrm>
          <a:prstGeom prst="rect">
            <a:avLst/>
          </a:prstGeom>
        </p:spPr>
      </p:pic>
      <p:sp>
        <p:nvSpPr>
          <p:cNvPr id="40" name="Text 37"/>
          <p:cNvSpPr/>
          <p:nvPr/>
        </p:nvSpPr>
        <p:spPr>
          <a:xfrm>
            <a:off x="6400800" y="2221992"/>
            <a:ext cx="2743200" cy="219456"/>
          </a:xfrm>
          <a:prstGeom prst="rect">
            <a:avLst/>
          </a:prstGeom>
          <a:noFill/>
          <a:ln/>
        </p:spPr>
        <p:txBody>
          <a:bodyPr wrap="square" lIns="0" tIns="0" rIns="0" bIns="0" rtlCol="0" anchor="ctr"/>
          <a:lstStyle/>
          <a:p>
            <a:pPr marL="0" indent="0">
              <a:buNone/>
            </a:pPr>
            <a:r>
              <a:rPr lang="en-US" sz="1250" b="1" dirty="0">
                <a:solidFill>
                  <a:srgbClr val="151A23"/>
                </a:solidFill>
              </a:rPr>
              <a:t>Qualitative test predictions</a:t>
            </a:r>
            <a:endParaRPr lang="en-US" sz="1250" dirty="0"/>
          </a:p>
        </p:txBody>
      </p:sp>
      <p:pic>
        <p:nvPicPr>
          <p:cNvPr id="41" name="Image 1" descr="/mnt/data/notebook_images/nb04.02-rfdetr_small_large_basketball_cell14_out7.jpg"/>
          <p:cNvPicPr>
            <a:picLocks noChangeAspect="1"/>
          </p:cNvPicPr>
          <p:nvPr/>
        </p:nvPicPr>
        <p:blipFill>
          <a:blip r:embed="rId4"/>
          <a:srcRect l="5829" r="5829"/>
          <a:stretch/>
        </p:blipFill>
        <p:spPr>
          <a:xfrm>
            <a:off x="6400800" y="2551176"/>
            <a:ext cx="4800600" cy="2971800"/>
          </a:xfrm>
          <a:prstGeom prst="rect">
            <a:avLst/>
          </a:prstGeom>
        </p:spPr>
      </p:pic>
      <p:sp>
        <p:nvSpPr>
          <p:cNvPr id="42" name="Shape 38"/>
          <p:cNvSpPr/>
          <p:nvPr/>
        </p:nvSpPr>
        <p:spPr>
          <a:xfrm>
            <a:off x="658368" y="5623560"/>
            <a:ext cx="10515600" cy="420624"/>
          </a:xfrm>
          <a:prstGeom prst="roundRect">
            <a:avLst>
              <a:gd name="adj" fmla="val 10870"/>
            </a:avLst>
          </a:prstGeom>
          <a:solidFill>
            <a:srgbClr val="FFF3D9"/>
          </a:solidFill>
          <a:ln w="10160">
            <a:solidFill>
              <a:srgbClr val="F2A541"/>
            </a:solidFill>
            <a:prstDash val="solid"/>
          </a:ln>
        </p:spPr>
        <p:txBody>
          <a:bodyPr/>
          <a:lstStyle/>
          <a:p>
            <a:endParaRPr lang="en-US"/>
          </a:p>
        </p:txBody>
      </p:sp>
      <p:sp>
        <p:nvSpPr>
          <p:cNvPr id="43" name="Text 39"/>
          <p:cNvSpPr/>
          <p:nvPr/>
        </p:nvSpPr>
        <p:spPr>
          <a:xfrm>
            <a:off x="841248" y="5769864"/>
            <a:ext cx="10058400" cy="109728"/>
          </a:xfrm>
          <a:prstGeom prst="rect">
            <a:avLst/>
          </a:prstGeom>
          <a:noFill/>
          <a:ln/>
        </p:spPr>
        <p:txBody>
          <a:bodyPr wrap="square" lIns="0" tIns="0" rIns="0" bIns="0" rtlCol="0" anchor="ctr">
            <a:normAutofit fontScale="92500" lnSpcReduction="20000"/>
          </a:bodyPr>
          <a:lstStyle/>
          <a:p>
            <a:pPr marL="0" indent="0">
              <a:buNone/>
            </a:pPr>
            <a:r>
              <a:rPr lang="en-US" sz="880" dirty="0">
                <a:solidFill>
                  <a:srgbClr val="151A23"/>
                </a:solidFill>
              </a:rPr>
              <a:t>Inference speed was not measured in the RF-DETR notebook. Next step: export/verify ONNX and benchmark ONNX Runtime latency with the same preprocessing and thresholding.</a:t>
            </a:r>
            <a:endParaRPr lang="en-US" sz="8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Recommended next technical steps</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Focus September on one deployment-capable path rather than widening the model search too much.</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10</a:t>
            </a:r>
            <a:endParaRPr lang="en-US" sz="720" dirty="0"/>
          </a:p>
        </p:txBody>
      </p:sp>
      <p:sp>
        <p:nvSpPr>
          <p:cNvPr id="7" name="Shape 5"/>
          <p:cNvSpPr/>
          <p:nvPr/>
        </p:nvSpPr>
        <p:spPr>
          <a:xfrm>
            <a:off x="713232" y="1234440"/>
            <a:ext cx="457200" cy="457200"/>
          </a:xfrm>
          <a:prstGeom prst="ellipse">
            <a:avLst/>
          </a:prstGeom>
          <a:solidFill>
            <a:srgbClr val="2AA7A5"/>
          </a:solidFill>
          <a:ln w="12700">
            <a:solidFill>
              <a:srgbClr val="2AA7A5"/>
            </a:solidFill>
            <a:prstDash val="solid"/>
          </a:ln>
        </p:spPr>
        <p:txBody>
          <a:bodyPr/>
          <a:lstStyle/>
          <a:p>
            <a:endParaRPr lang="en-US" sz="2400"/>
          </a:p>
        </p:txBody>
      </p:sp>
      <p:sp>
        <p:nvSpPr>
          <p:cNvPr id="8" name="Text 6"/>
          <p:cNvSpPr/>
          <p:nvPr/>
        </p:nvSpPr>
        <p:spPr>
          <a:xfrm>
            <a:off x="713232" y="1357884"/>
            <a:ext cx="457200" cy="118872"/>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1417320" y="1216152"/>
            <a:ext cx="3840480" cy="219456"/>
          </a:xfrm>
          <a:prstGeom prst="rect">
            <a:avLst/>
          </a:prstGeom>
          <a:noFill/>
          <a:ln/>
        </p:spPr>
        <p:txBody>
          <a:bodyPr wrap="square" lIns="0" tIns="0" rIns="0" bIns="0" rtlCol="0" anchor="ctr"/>
          <a:lstStyle/>
          <a:p>
            <a:pPr marL="0" indent="0">
              <a:buNone/>
            </a:pPr>
            <a:r>
              <a:rPr lang="en-US" sz="1600" b="1" dirty="0">
                <a:solidFill>
                  <a:srgbClr val="151A23"/>
                </a:solidFill>
              </a:rPr>
              <a:t>Benchmark RF-DETR latency + errors</a:t>
            </a:r>
            <a:endParaRPr lang="en-US" sz="1600" dirty="0"/>
          </a:p>
        </p:txBody>
      </p:sp>
      <p:sp>
        <p:nvSpPr>
          <p:cNvPr id="10" name="Text 8"/>
          <p:cNvSpPr/>
          <p:nvPr/>
        </p:nvSpPr>
        <p:spPr>
          <a:xfrm>
            <a:off x="1417320" y="1545336"/>
            <a:ext cx="5989320" cy="292608"/>
          </a:xfrm>
          <a:prstGeom prst="rect">
            <a:avLst/>
          </a:prstGeom>
          <a:noFill/>
          <a:ln/>
        </p:spPr>
        <p:txBody>
          <a:bodyPr wrap="square" lIns="0" tIns="0" rIns="0" bIns="0" rtlCol="0" anchor="ctr">
            <a:noAutofit/>
          </a:bodyPr>
          <a:lstStyle/>
          <a:p>
            <a:pPr marL="0" indent="0">
              <a:buNone/>
            </a:pPr>
            <a:r>
              <a:rPr lang="en-US" sz="1200" dirty="0">
                <a:solidFill>
                  <a:srgbClr val="6B7280"/>
                </a:solidFill>
              </a:rPr>
              <a:t>Measure batch-one FP32/FP16 latency; review misses and false positives on the held-out test split.</a:t>
            </a:r>
            <a:endParaRPr lang="en-US" sz="1200" dirty="0"/>
          </a:p>
        </p:txBody>
      </p:sp>
      <p:sp>
        <p:nvSpPr>
          <p:cNvPr id="11" name="Shape 9"/>
          <p:cNvSpPr/>
          <p:nvPr/>
        </p:nvSpPr>
        <p:spPr>
          <a:xfrm>
            <a:off x="713232" y="2295144"/>
            <a:ext cx="457200" cy="457200"/>
          </a:xfrm>
          <a:prstGeom prst="ellipse">
            <a:avLst/>
          </a:prstGeom>
          <a:solidFill>
            <a:srgbClr val="2AA7A5"/>
          </a:solidFill>
          <a:ln w="12700">
            <a:solidFill>
              <a:srgbClr val="2AA7A5"/>
            </a:solidFill>
            <a:prstDash val="solid"/>
          </a:ln>
        </p:spPr>
        <p:txBody>
          <a:bodyPr/>
          <a:lstStyle/>
          <a:p>
            <a:endParaRPr lang="en-US" sz="2400"/>
          </a:p>
        </p:txBody>
      </p:sp>
      <p:sp>
        <p:nvSpPr>
          <p:cNvPr id="12" name="Text 10"/>
          <p:cNvSpPr/>
          <p:nvPr/>
        </p:nvSpPr>
        <p:spPr>
          <a:xfrm>
            <a:off x="713232" y="2418588"/>
            <a:ext cx="457200" cy="118872"/>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3" name="Text 11"/>
          <p:cNvSpPr/>
          <p:nvPr/>
        </p:nvSpPr>
        <p:spPr>
          <a:xfrm>
            <a:off x="1417320" y="2276856"/>
            <a:ext cx="3840480" cy="219456"/>
          </a:xfrm>
          <a:prstGeom prst="rect">
            <a:avLst/>
          </a:prstGeom>
          <a:noFill/>
          <a:ln/>
        </p:spPr>
        <p:txBody>
          <a:bodyPr wrap="square" lIns="0" tIns="0" rIns="0" bIns="0" rtlCol="0" anchor="ctr"/>
          <a:lstStyle/>
          <a:p>
            <a:pPr marL="0" indent="0">
              <a:buNone/>
            </a:pPr>
            <a:r>
              <a:rPr lang="en-US" sz="1600" b="1" dirty="0">
                <a:solidFill>
                  <a:srgbClr val="151A23"/>
                </a:solidFill>
              </a:rPr>
              <a:t>Validate ONNX export</a:t>
            </a:r>
            <a:endParaRPr lang="en-US" sz="1600" dirty="0"/>
          </a:p>
        </p:txBody>
      </p:sp>
      <p:sp>
        <p:nvSpPr>
          <p:cNvPr id="14" name="Text 12"/>
          <p:cNvSpPr/>
          <p:nvPr/>
        </p:nvSpPr>
        <p:spPr>
          <a:xfrm>
            <a:off x="1417320" y="2606040"/>
            <a:ext cx="5989320" cy="292608"/>
          </a:xfrm>
          <a:prstGeom prst="rect">
            <a:avLst/>
          </a:prstGeom>
          <a:noFill/>
          <a:ln/>
        </p:spPr>
        <p:txBody>
          <a:bodyPr wrap="square" lIns="0" tIns="0" rIns="0" bIns="0" rtlCol="0" anchor="ctr">
            <a:noAutofit/>
          </a:bodyPr>
          <a:lstStyle/>
          <a:p>
            <a:pPr marL="0" indent="0">
              <a:buNone/>
            </a:pPr>
            <a:r>
              <a:rPr lang="en-US" sz="1200" dirty="0">
                <a:solidFill>
                  <a:srgbClr val="6B7280"/>
                </a:solidFill>
              </a:rPr>
              <a:t>Not yet attempted: export RF-DETR Small, then compare PyTorch and ONNX Runtime on fixed images.</a:t>
            </a:r>
            <a:endParaRPr lang="en-US" sz="1200" dirty="0"/>
          </a:p>
        </p:txBody>
      </p:sp>
      <p:sp>
        <p:nvSpPr>
          <p:cNvPr id="15" name="Shape 13"/>
          <p:cNvSpPr/>
          <p:nvPr/>
        </p:nvSpPr>
        <p:spPr>
          <a:xfrm>
            <a:off x="713232" y="3355848"/>
            <a:ext cx="457200" cy="457200"/>
          </a:xfrm>
          <a:prstGeom prst="ellipse">
            <a:avLst/>
          </a:prstGeom>
          <a:solidFill>
            <a:srgbClr val="2AA7A5"/>
          </a:solidFill>
          <a:ln w="12700">
            <a:solidFill>
              <a:srgbClr val="2AA7A5"/>
            </a:solidFill>
            <a:prstDash val="solid"/>
          </a:ln>
        </p:spPr>
        <p:txBody>
          <a:bodyPr/>
          <a:lstStyle/>
          <a:p>
            <a:endParaRPr lang="en-US" sz="2400"/>
          </a:p>
        </p:txBody>
      </p:sp>
      <p:sp>
        <p:nvSpPr>
          <p:cNvPr id="16" name="Text 14"/>
          <p:cNvSpPr/>
          <p:nvPr/>
        </p:nvSpPr>
        <p:spPr>
          <a:xfrm>
            <a:off x="713232" y="3479292"/>
            <a:ext cx="457200" cy="118872"/>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7" name="Text 15"/>
          <p:cNvSpPr/>
          <p:nvPr/>
        </p:nvSpPr>
        <p:spPr>
          <a:xfrm>
            <a:off x="1417320" y="3337560"/>
            <a:ext cx="3840480" cy="219456"/>
          </a:xfrm>
          <a:prstGeom prst="rect">
            <a:avLst/>
          </a:prstGeom>
          <a:noFill/>
          <a:ln/>
        </p:spPr>
        <p:txBody>
          <a:bodyPr wrap="square" lIns="0" tIns="0" rIns="0" bIns="0" rtlCol="0" anchor="ctr"/>
          <a:lstStyle/>
          <a:p>
            <a:pPr marL="0" indent="0">
              <a:buNone/>
            </a:pPr>
            <a:r>
              <a:rPr lang="en-US" sz="1600" b="1">
                <a:solidFill>
                  <a:srgbClr val="151A23"/>
                </a:solidFill>
              </a:rPr>
              <a:t>Train football and other sport detectors</a:t>
            </a:r>
            <a:endParaRPr lang="en-US" sz="1600" dirty="0"/>
          </a:p>
        </p:txBody>
      </p:sp>
      <p:sp>
        <p:nvSpPr>
          <p:cNvPr id="18" name="Text 16"/>
          <p:cNvSpPr/>
          <p:nvPr/>
        </p:nvSpPr>
        <p:spPr>
          <a:xfrm>
            <a:off x="1417320" y="3666744"/>
            <a:ext cx="5989320" cy="292608"/>
          </a:xfrm>
          <a:prstGeom prst="rect">
            <a:avLst/>
          </a:prstGeom>
          <a:noFill/>
          <a:ln/>
        </p:spPr>
        <p:txBody>
          <a:bodyPr wrap="square" lIns="0" tIns="0" rIns="0" bIns="0" rtlCol="0" anchor="ctr">
            <a:normAutofit/>
          </a:bodyPr>
          <a:lstStyle/>
          <a:p>
            <a:pPr marL="0" indent="0">
              <a:buNone/>
            </a:pPr>
            <a:r>
              <a:rPr lang="en-US" sz="1200" dirty="0">
                <a:solidFill>
                  <a:srgbClr val="6B7280"/>
                </a:solidFill>
              </a:rPr>
              <a:t>Use the prepared 5,032-image football dataset; report same metrics table.</a:t>
            </a:r>
            <a:endParaRPr lang="en-US" sz="1200" dirty="0"/>
          </a:p>
        </p:txBody>
      </p:sp>
      <p:sp>
        <p:nvSpPr>
          <p:cNvPr id="19" name="Shape 17"/>
          <p:cNvSpPr/>
          <p:nvPr/>
        </p:nvSpPr>
        <p:spPr>
          <a:xfrm>
            <a:off x="713232" y="4416552"/>
            <a:ext cx="457200" cy="457200"/>
          </a:xfrm>
          <a:prstGeom prst="ellipse">
            <a:avLst/>
          </a:prstGeom>
          <a:solidFill>
            <a:srgbClr val="2AA7A5"/>
          </a:solidFill>
          <a:ln w="12700">
            <a:solidFill>
              <a:srgbClr val="2AA7A5"/>
            </a:solidFill>
            <a:prstDash val="solid"/>
          </a:ln>
        </p:spPr>
        <p:txBody>
          <a:bodyPr/>
          <a:lstStyle/>
          <a:p>
            <a:endParaRPr lang="en-US" sz="2400"/>
          </a:p>
        </p:txBody>
      </p:sp>
      <p:sp>
        <p:nvSpPr>
          <p:cNvPr id="20" name="Text 18"/>
          <p:cNvSpPr/>
          <p:nvPr/>
        </p:nvSpPr>
        <p:spPr>
          <a:xfrm>
            <a:off x="713232" y="4539996"/>
            <a:ext cx="457200" cy="118872"/>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1" name="Text 19"/>
          <p:cNvSpPr/>
          <p:nvPr/>
        </p:nvSpPr>
        <p:spPr>
          <a:xfrm>
            <a:off x="1417320" y="4398264"/>
            <a:ext cx="3840480" cy="219456"/>
          </a:xfrm>
          <a:prstGeom prst="rect">
            <a:avLst/>
          </a:prstGeom>
          <a:noFill/>
          <a:ln/>
        </p:spPr>
        <p:txBody>
          <a:bodyPr wrap="square" lIns="0" tIns="0" rIns="0" bIns="0" rtlCol="0" anchor="ctr"/>
          <a:lstStyle/>
          <a:p>
            <a:pPr marL="0" indent="0">
              <a:buNone/>
            </a:pPr>
            <a:r>
              <a:rPr lang="en-US" sz="1600" b="1" dirty="0">
                <a:solidFill>
                  <a:srgbClr val="151A23"/>
                </a:solidFill>
              </a:rPr>
              <a:t>Package inference contract</a:t>
            </a:r>
            <a:endParaRPr lang="en-US" sz="1600" dirty="0"/>
          </a:p>
        </p:txBody>
      </p:sp>
      <p:sp>
        <p:nvSpPr>
          <p:cNvPr id="22" name="Text 20"/>
          <p:cNvSpPr/>
          <p:nvPr/>
        </p:nvSpPr>
        <p:spPr>
          <a:xfrm>
            <a:off x="1417320" y="4727448"/>
            <a:ext cx="5989320" cy="292608"/>
          </a:xfrm>
          <a:prstGeom prst="rect">
            <a:avLst/>
          </a:prstGeom>
          <a:noFill/>
          <a:ln/>
        </p:spPr>
        <p:txBody>
          <a:bodyPr wrap="square" lIns="0" tIns="0" rIns="0" bIns="0" rtlCol="0" anchor="ctr">
            <a:normAutofit fontScale="92500"/>
          </a:bodyPr>
          <a:lstStyle/>
          <a:p>
            <a:pPr marL="0" indent="0">
              <a:buNone/>
            </a:pPr>
            <a:r>
              <a:rPr lang="en-US" sz="1200" dirty="0">
                <a:solidFill>
                  <a:srgbClr val="6B7280"/>
                </a:solidFill>
              </a:rPr>
              <a:t>Document preprocessing, class names, score thresholds, NMS/postprocess and expected tensors.</a:t>
            </a:r>
            <a:endParaRPr lang="en-US" sz="1200" dirty="0"/>
          </a:p>
        </p:txBody>
      </p:sp>
      <p:sp>
        <p:nvSpPr>
          <p:cNvPr id="23" name="Text 21"/>
          <p:cNvSpPr/>
          <p:nvPr/>
        </p:nvSpPr>
        <p:spPr>
          <a:xfrm>
            <a:off x="8458200" y="1188720"/>
            <a:ext cx="2377440" cy="228600"/>
          </a:xfrm>
          <a:prstGeom prst="rect">
            <a:avLst/>
          </a:prstGeom>
          <a:noFill/>
          <a:ln/>
        </p:spPr>
        <p:txBody>
          <a:bodyPr wrap="square" lIns="0" tIns="0" rIns="0" bIns="0" rtlCol="0" anchor="ctr"/>
          <a:lstStyle/>
          <a:p>
            <a:pPr marL="0" indent="0">
              <a:buNone/>
            </a:pPr>
            <a:r>
              <a:rPr lang="en-US" sz="1300" b="1" dirty="0">
                <a:solidFill>
                  <a:srgbClr val="151A23"/>
                </a:solidFill>
              </a:rPr>
              <a:t>Recommendation</a:t>
            </a:r>
            <a:endParaRPr lang="en-US" sz="1300" dirty="0"/>
          </a:p>
        </p:txBody>
      </p:sp>
      <p:sp>
        <p:nvSpPr>
          <p:cNvPr id="24" name="Text 22"/>
          <p:cNvSpPr/>
          <p:nvPr/>
        </p:nvSpPr>
        <p:spPr>
          <a:xfrm>
            <a:off x="8458200" y="1572768"/>
            <a:ext cx="2514600" cy="1143000"/>
          </a:xfrm>
          <a:prstGeom prst="rect">
            <a:avLst/>
          </a:prstGeom>
          <a:noFill/>
          <a:ln/>
        </p:spPr>
        <p:txBody>
          <a:bodyPr wrap="square" lIns="0" tIns="0" rIns="0" bIns="0" rtlCol="0" anchor="ctr">
            <a:normAutofit/>
          </a:bodyPr>
          <a:lstStyle/>
          <a:p>
            <a:pPr marL="0" indent="0">
              <a:buNone/>
            </a:pPr>
            <a:r>
              <a:rPr lang="en-US" sz="1350" dirty="0">
                <a:solidFill>
                  <a:srgbClr val="151A23"/>
                </a:solidFill>
              </a:rPr>
              <a:t>RF-DETR Small provisionally leads. Run a common evaluator plus ONNX and latency checks before selection; keep YOLOX-Tiny as fallback.</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Realistic 3–4 week delivery estimate</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RF-DETR-first forecast for end of September, assuming continued part-time availability and GPU access.</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11</a:t>
            </a:r>
            <a:endParaRPr lang="en-US" sz="720" dirty="0"/>
          </a:p>
        </p:txBody>
      </p:sp>
      <p:sp>
        <p:nvSpPr>
          <p:cNvPr id="7" name="Text 5"/>
          <p:cNvSpPr/>
          <p:nvPr/>
        </p:nvSpPr>
        <p:spPr>
          <a:xfrm>
            <a:off x="585216" y="1188720"/>
            <a:ext cx="2706624" cy="658368"/>
          </a:xfrm>
          <a:prstGeom prst="rect">
            <a:avLst/>
          </a:prstGeom>
          <a:noFill/>
          <a:ln/>
        </p:spPr>
        <p:txBody>
          <a:bodyPr wrap="square" lIns="0" tIns="0" rIns="0" bIns="0" rtlCol="0" anchor="ctr">
            <a:normAutofit/>
          </a:bodyPr>
          <a:lstStyle/>
          <a:p>
            <a:pPr marL="0" indent="0">
              <a:buNone/>
            </a:pPr>
            <a:r>
              <a:rPr lang="en-US" sz="920" b="1" dirty="0">
                <a:solidFill>
                  <a:srgbClr val="12213A"/>
                </a:solidFill>
                <a:latin typeface="Aptos" pitchFamily="34" charset="0"/>
                <a:ea typeface="Aptos" pitchFamily="34" charset="-122"/>
                <a:cs typeface="Aptos" pitchFamily="34" charset="-120"/>
              </a:rPr>
              <a:t>Question</a:t>
            </a:r>
            <a:endParaRPr lang="en-US" sz="920" dirty="0"/>
          </a:p>
        </p:txBody>
      </p:sp>
      <p:sp>
        <p:nvSpPr>
          <p:cNvPr id="8" name="Text 6"/>
          <p:cNvSpPr/>
          <p:nvPr/>
        </p:nvSpPr>
        <p:spPr>
          <a:xfrm>
            <a:off x="3328416" y="1188720"/>
            <a:ext cx="4764024" cy="658368"/>
          </a:xfrm>
          <a:prstGeom prst="rect">
            <a:avLst/>
          </a:prstGeom>
          <a:noFill/>
          <a:ln/>
        </p:spPr>
        <p:txBody>
          <a:bodyPr wrap="square" lIns="0" tIns="0" rIns="0" bIns="0" rtlCol="0" anchor="ctr">
            <a:normAutofit/>
          </a:bodyPr>
          <a:lstStyle/>
          <a:p>
            <a:pPr marL="0" indent="0">
              <a:buNone/>
            </a:pPr>
            <a:r>
              <a:rPr lang="en-US" sz="920" b="1">
                <a:solidFill>
                  <a:srgbClr val="12213A"/>
                </a:solidFill>
                <a:latin typeface="Aptos" pitchFamily="34" charset="0"/>
                <a:ea typeface="Aptos" pitchFamily="34" charset="-122"/>
                <a:cs typeface="Aptos" pitchFamily="34" charset="-120"/>
              </a:rPr>
              <a:t>Estimate</a:t>
            </a:r>
            <a:endParaRPr lang="en-US" sz="920" dirty="0"/>
          </a:p>
        </p:txBody>
      </p:sp>
      <p:sp>
        <p:nvSpPr>
          <p:cNvPr id="9" name="Text 7"/>
          <p:cNvSpPr/>
          <p:nvPr/>
        </p:nvSpPr>
        <p:spPr>
          <a:xfrm>
            <a:off x="8129016" y="1188720"/>
            <a:ext cx="3392424" cy="658368"/>
          </a:xfrm>
          <a:prstGeom prst="rect">
            <a:avLst/>
          </a:prstGeom>
          <a:noFill/>
          <a:ln/>
        </p:spPr>
        <p:txBody>
          <a:bodyPr wrap="square" lIns="0" tIns="0" rIns="0" bIns="0" rtlCol="0" anchor="ctr">
            <a:normAutofit/>
          </a:bodyPr>
          <a:lstStyle/>
          <a:p>
            <a:pPr marL="0" indent="0">
              <a:buNone/>
            </a:pPr>
            <a:r>
              <a:rPr lang="en-US" sz="920" b="1" dirty="0">
                <a:solidFill>
                  <a:srgbClr val="12213A"/>
                </a:solidFill>
                <a:latin typeface="Aptos" pitchFamily="34" charset="0"/>
                <a:ea typeface="Aptos" pitchFamily="34" charset="-122"/>
                <a:cs typeface="Aptos" pitchFamily="34" charset="-120"/>
              </a:rPr>
              <a:t>Confidence / caveat</a:t>
            </a:r>
            <a:endParaRPr lang="en-US" sz="920" dirty="0"/>
          </a:p>
        </p:txBody>
      </p:sp>
      <p:sp>
        <p:nvSpPr>
          <p:cNvPr id="10" name="Shape 8"/>
          <p:cNvSpPr/>
          <p:nvPr/>
        </p:nvSpPr>
        <p:spPr>
          <a:xfrm>
            <a:off x="566928" y="1865376"/>
            <a:ext cx="10972800" cy="0"/>
          </a:xfrm>
          <a:prstGeom prst="line">
            <a:avLst/>
          </a:prstGeom>
          <a:noFill/>
          <a:ln w="12700">
            <a:solidFill>
              <a:srgbClr val="12213A"/>
            </a:solidFill>
            <a:prstDash val="solid"/>
          </a:ln>
        </p:spPr>
        <p:txBody>
          <a:bodyPr/>
          <a:lstStyle/>
          <a:p>
            <a:endParaRPr lang="en-US" sz="2400"/>
          </a:p>
        </p:txBody>
      </p:sp>
      <p:sp>
        <p:nvSpPr>
          <p:cNvPr id="11" name="Text 9"/>
          <p:cNvSpPr/>
          <p:nvPr/>
        </p:nvSpPr>
        <p:spPr>
          <a:xfrm>
            <a:off x="585216" y="1920240"/>
            <a:ext cx="27066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Time to train one model on one large dataset</a:t>
            </a:r>
            <a:endParaRPr lang="en-US" sz="1050" dirty="0"/>
          </a:p>
        </p:txBody>
      </p:sp>
      <p:sp>
        <p:nvSpPr>
          <p:cNvPr id="12" name="Text 10"/>
          <p:cNvSpPr/>
          <p:nvPr/>
        </p:nvSpPr>
        <p:spPr>
          <a:xfrm>
            <a:off x="3328416" y="1920240"/>
            <a:ext cx="47640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RF-DETR Small: ~3.6 h observed per large-dataset run</a:t>
            </a:r>
            <a:endParaRPr lang="en-US" sz="1050" dirty="0"/>
          </a:p>
        </p:txBody>
      </p:sp>
      <p:sp>
        <p:nvSpPr>
          <p:cNvPr id="13" name="Text 11"/>
          <p:cNvSpPr/>
          <p:nvPr/>
        </p:nvSpPr>
        <p:spPr>
          <a:xfrm>
            <a:off x="8129016" y="1920240"/>
            <a:ext cx="33924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Allow ~half a day per run with validation; observed total includes interruption + resume</a:t>
            </a:r>
            <a:endParaRPr lang="en-US" sz="1050" dirty="0"/>
          </a:p>
        </p:txBody>
      </p:sp>
      <p:sp>
        <p:nvSpPr>
          <p:cNvPr id="14" name="Shape 12"/>
          <p:cNvSpPr/>
          <p:nvPr/>
        </p:nvSpPr>
        <p:spPr>
          <a:xfrm>
            <a:off x="566928" y="2596896"/>
            <a:ext cx="10972800" cy="0"/>
          </a:xfrm>
          <a:prstGeom prst="line">
            <a:avLst/>
          </a:prstGeom>
          <a:noFill/>
          <a:ln w="5080">
            <a:solidFill>
              <a:srgbClr val="D8DEE9"/>
            </a:solidFill>
            <a:prstDash val="solid"/>
          </a:ln>
        </p:spPr>
        <p:txBody>
          <a:bodyPr/>
          <a:lstStyle/>
          <a:p>
            <a:endParaRPr lang="en-US" sz="2400"/>
          </a:p>
        </p:txBody>
      </p:sp>
      <p:sp>
        <p:nvSpPr>
          <p:cNvPr id="15" name="Text 13"/>
          <p:cNvSpPr/>
          <p:nvPr/>
        </p:nvSpPr>
        <p:spPr>
          <a:xfrm>
            <a:off x="585216" y="2651760"/>
            <a:ext cx="27066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Object classes working by end September</a:t>
            </a:r>
            <a:endParaRPr lang="en-US" sz="1050" dirty="0"/>
          </a:p>
        </p:txBody>
      </p:sp>
      <p:sp>
        <p:nvSpPr>
          <p:cNvPr id="16" name="Text 14"/>
          <p:cNvSpPr/>
          <p:nvPr/>
        </p:nvSpPr>
        <p:spPr>
          <a:xfrm>
            <a:off x="3328416" y="2651760"/>
            <a:ext cx="47640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2 RF-DETR-evaluated classes: basketball + football</a:t>
            </a:r>
            <a:endParaRPr lang="en-US" sz="1050" dirty="0"/>
          </a:p>
        </p:txBody>
      </p:sp>
      <p:sp>
        <p:nvSpPr>
          <p:cNvPr id="17" name="Text 15"/>
          <p:cNvSpPr/>
          <p:nvPr/>
        </p:nvSpPr>
        <p:spPr>
          <a:xfrm>
            <a:off x="8129016" y="2651760"/>
            <a:ext cx="33924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Separate detectors first; a third class remains a stretch goal</a:t>
            </a:r>
            <a:endParaRPr lang="en-US" sz="1050" dirty="0"/>
          </a:p>
        </p:txBody>
      </p:sp>
      <p:sp>
        <p:nvSpPr>
          <p:cNvPr id="18" name="Shape 16"/>
          <p:cNvSpPr/>
          <p:nvPr/>
        </p:nvSpPr>
        <p:spPr>
          <a:xfrm>
            <a:off x="566928" y="3328416"/>
            <a:ext cx="10972800" cy="0"/>
          </a:xfrm>
          <a:prstGeom prst="line">
            <a:avLst/>
          </a:prstGeom>
          <a:noFill/>
          <a:ln w="5080">
            <a:solidFill>
              <a:srgbClr val="D8DEE9"/>
            </a:solidFill>
            <a:prstDash val="solid"/>
          </a:ln>
        </p:spPr>
        <p:txBody>
          <a:bodyPr/>
          <a:lstStyle/>
          <a:p>
            <a:endParaRPr lang="en-US" sz="2400"/>
          </a:p>
        </p:txBody>
      </p:sp>
      <p:sp>
        <p:nvSpPr>
          <p:cNvPr id="19" name="Text 17"/>
          <p:cNvSpPr/>
          <p:nvPr/>
        </p:nvSpPr>
        <p:spPr>
          <a:xfrm>
            <a:off x="585216" y="3383280"/>
            <a:ext cx="27066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ONNX export for Unity integration</a:t>
            </a:r>
            <a:endParaRPr lang="en-US" sz="1050" dirty="0"/>
          </a:p>
        </p:txBody>
      </p:sp>
      <p:sp>
        <p:nvSpPr>
          <p:cNvPr id="20" name="Text 18"/>
          <p:cNvSpPr/>
          <p:nvPr/>
        </p:nvSpPr>
        <p:spPr>
          <a:xfrm>
            <a:off x="3328416" y="3383280"/>
            <a:ext cx="47640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RF-DETR ONNX not yet attempted; allow 1 week for export + parity</a:t>
            </a:r>
            <a:endParaRPr lang="en-US" sz="1050" dirty="0"/>
          </a:p>
        </p:txBody>
      </p:sp>
      <p:sp>
        <p:nvSpPr>
          <p:cNvPr id="21" name="Text 19"/>
          <p:cNvSpPr/>
          <p:nvPr/>
        </p:nvSpPr>
        <p:spPr>
          <a:xfrm>
            <a:off x="8129016" y="3383280"/>
            <a:ext cx="33924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If blocked, switch export work to YOLOX; full Unity integration remains separate</a:t>
            </a:r>
            <a:endParaRPr lang="en-US" sz="1050" dirty="0"/>
          </a:p>
        </p:txBody>
      </p:sp>
      <p:sp>
        <p:nvSpPr>
          <p:cNvPr id="22" name="Shape 20"/>
          <p:cNvSpPr/>
          <p:nvPr/>
        </p:nvSpPr>
        <p:spPr>
          <a:xfrm>
            <a:off x="566928" y="4059936"/>
            <a:ext cx="10972800" cy="0"/>
          </a:xfrm>
          <a:prstGeom prst="line">
            <a:avLst/>
          </a:prstGeom>
          <a:noFill/>
          <a:ln w="5080">
            <a:solidFill>
              <a:srgbClr val="D8DEE9"/>
            </a:solidFill>
            <a:prstDash val="solid"/>
          </a:ln>
        </p:spPr>
        <p:txBody>
          <a:bodyPr/>
          <a:lstStyle/>
          <a:p>
            <a:endParaRPr lang="en-US" sz="2400"/>
          </a:p>
        </p:txBody>
      </p:sp>
      <p:sp>
        <p:nvSpPr>
          <p:cNvPr id="23" name="Text 21"/>
          <p:cNvSpPr/>
          <p:nvPr/>
        </p:nvSpPr>
        <p:spPr>
          <a:xfrm>
            <a:off x="585216" y="4114800"/>
            <a:ext cx="27066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Most valuable September outcome</a:t>
            </a:r>
            <a:endParaRPr lang="en-US" sz="1050" dirty="0"/>
          </a:p>
        </p:txBody>
      </p:sp>
      <p:sp>
        <p:nvSpPr>
          <p:cNvPr id="24" name="Text 22"/>
          <p:cNvSpPr/>
          <p:nvPr/>
        </p:nvSpPr>
        <p:spPr>
          <a:xfrm>
            <a:off x="3328416" y="4114800"/>
            <a:ext cx="47640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RF-DETR Small ONNX proof + basketball and football evaluation</a:t>
            </a:r>
            <a:endParaRPr lang="en-US" sz="1050" dirty="0"/>
          </a:p>
        </p:txBody>
      </p:sp>
      <p:sp>
        <p:nvSpPr>
          <p:cNvPr id="25" name="Text 23"/>
          <p:cNvSpPr/>
          <p:nvPr/>
        </p:nvSpPr>
        <p:spPr>
          <a:xfrm>
            <a:off x="8129016" y="4114800"/>
            <a:ext cx="3392424" cy="658368"/>
          </a:xfrm>
          <a:prstGeom prst="rect">
            <a:avLst/>
          </a:prstGeom>
          <a:noFill/>
          <a:ln/>
        </p:spPr>
        <p:txBody>
          <a:bodyPr wrap="square" lIns="0" tIns="0" rIns="0" bIns="0" rtlCol="0" anchor="ctr">
            <a:normAutofit/>
          </a:bodyPr>
          <a:lstStyle/>
          <a:p>
            <a:pPr marL="0" indent="0">
              <a:buNone/>
            </a:pPr>
            <a:r>
              <a:rPr lang="en-US" sz="1050" dirty="0">
                <a:solidFill>
                  <a:srgbClr val="151A23"/>
                </a:solidFill>
                <a:latin typeface="Aptos" pitchFamily="34" charset="0"/>
                <a:ea typeface="Aptos" pitchFamily="34" charset="-122"/>
                <a:cs typeface="Aptos" pitchFamily="34" charset="-120"/>
              </a:rPr>
              <a:t>YOLOX is the technical fallback; YOLO11n remains benchmark-only</a:t>
            </a:r>
            <a:endParaRPr lang="en-US" sz="1050" dirty="0"/>
          </a:p>
        </p:txBody>
      </p:sp>
      <p:sp>
        <p:nvSpPr>
          <p:cNvPr id="26" name="Shape 24"/>
          <p:cNvSpPr/>
          <p:nvPr/>
        </p:nvSpPr>
        <p:spPr>
          <a:xfrm>
            <a:off x="566928" y="4791456"/>
            <a:ext cx="10972800" cy="0"/>
          </a:xfrm>
          <a:prstGeom prst="line">
            <a:avLst/>
          </a:prstGeom>
          <a:noFill/>
          <a:ln w="5080">
            <a:solidFill>
              <a:srgbClr val="D8DEE9"/>
            </a:solidFill>
            <a:prstDash val="solid"/>
          </a:ln>
        </p:spPr>
        <p:txBody>
          <a:bodyPr/>
          <a:lstStyle/>
          <a:p>
            <a:endParaRPr lang="en-US" sz="2400"/>
          </a:p>
        </p:txBody>
      </p:sp>
      <p:sp>
        <p:nvSpPr>
          <p:cNvPr id="27" name="Text 25"/>
          <p:cNvSpPr/>
          <p:nvPr/>
        </p:nvSpPr>
        <p:spPr>
          <a:xfrm>
            <a:off x="658368" y="5166360"/>
            <a:ext cx="3657600" cy="228600"/>
          </a:xfrm>
          <a:prstGeom prst="rect">
            <a:avLst/>
          </a:prstGeom>
          <a:noFill/>
          <a:ln/>
        </p:spPr>
        <p:txBody>
          <a:bodyPr wrap="square" lIns="0" tIns="0" rIns="0" bIns="0" rtlCol="0" anchor="ctr"/>
          <a:lstStyle/>
          <a:p>
            <a:pPr marL="0" indent="0">
              <a:buNone/>
            </a:pPr>
            <a:r>
              <a:rPr lang="en-US" sz="1300" b="1" dirty="0">
                <a:solidFill>
                  <a:srgbClr val="151A23"/>
                </a:solidFill>
              </a:rPr>
              <a:t>Recommendation for this funding window</a:t>
            </a:r>
            <a:endParaRPr lang="en-US" sz="1300" dirty="0"/>
          </a:p>
        </p:txBody>
      </p:sp>
      <p:sp>
        <p:nvSpPr>
          <p:cNvPr id="28" name="Text 26"/>
          <p:cNvSpPr/>
          <p:nvPr/>
        </p:nvSpPr>
        <p:spPr>
          <a:xfrm>
            <a:off x="658368" y="5504688"/>
            <a:ext cx="10287000" cy="420624"/>
          </a:xfrm>
          <a:prstGeom prst="rect">
            <a:avLst/>
          </a:prstGeom>
          <a:noFill/>
          <a:ln/>
        </p:spPr>
        <p:txBody>
          <a:bodyPr wrap="square" lIns="0" tIns="0" rIns="0" bIns="0" rtlCol="0" anchor="ctr">
            <a:normAutofit/>
          </a:bodyPr>
          <a:lstStyle/>
          <a:p>
            <a:pPr marL="0" indent="0">
              <a:buNone/>
            </a:pPr>
            <a:r>
              <a:rPr lang="en-US" sz="1220" dirty="0">
                <a:solidFill>
                  <a:srgbClr val="151A23"/>
                </a:solidFill>
              </a:rPr>
              <a:t>Commit to RF-DETR Small: evaluate basketball and football, then deliver an ONNX Runtime proof-of-concept. Keep YOLOX as the technical fallback and YOLO11n as a benchmark only.</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0607040" cy="384048"/>
          </a:xfrm>
          <a:prstGeom prst="rect">
            <a:avLst/>
          </a:prstGeom>
          <a:noFill/>
          <a:ln/>
        </p:spPr>
        <p:txBody>
          <a:bodyPr wrap="square" lIns="0" tIns="0" rIns="0" bIns="0" rtlCol="0" anchor="ctr">
            <a:normAutofit/>
          </a:bodyPr>
          <a:lstStyle/>
          <a:p>
            <a:pPr marL="0" indent="0">
              <a:buNone/>
            </a:pPr>
            <a:r>
              <a:rPr lang="en-US" sz="2500" b="1" dirty="0">
                <a:solidFill>
                  <a:srgbClr val="151A23"/>
                </a:solidFill>
              </a:rPr>
              <a:t>Appendix: current notebook/source basis</a:t>
            </a:r>
            <a:endParaRPr lang="en-US" sz="2500" dirty="0"/>
          </a:p>
        </p:txBody>
      </p:sp>
      <p:sp>
        <p:nvSpPr>
          <p:cNvPr id="3" name="Text 1"/>
          <p:cNvSpPr/>
          <p:nvPr/>
        </p:nvSpPr>
        <p:spPr>
          <a:xfrm>
            <a:off x="566928" y="768096"/>
            <a:ext cx="10332720" cy="246888"/>
          </a:xfrm>
          <a:prstGeom prst="rect">
            <a:avLst/>
          </a:prstGeom>
          <a:noFill/>
          <a:ln/>
        </p:spPr>
        <p:txBody>
          <a:bodyPr wrap="square" lIns="0" tIns="0" rIns="0" bIns="0" rtlCol="0" anchor="ctr">
            <a:normAutofit/>
          </a:bodyPr>
          <a:lstStyle/>
          <a:p>
            <a:pPr marL="0" indent="0">
              <a:buNone/>
            </a:pPr>
            <a:r>
              <a:rPr lang="en-US" sz="950" dirty="0">
                <a:solidFill>
                  <a:srgbClr val="6B7280"/>
                </a:solidFill>
              </a:rPr>
              <a:t>Use this only if asked; it documents where the current claims came from.</a:t>
            </a:r>
            <a:endParaRPr lang="en-US" sz="950" dirty="0"/>
          </a:p>
        </p:txBody>
      </p:sp>
      <p:sp>
        <p:nvSpPr>
          <p:cNvPr id="4" name="Shape 2"/>
          <p:cNvSpPr/>
          <p:nvPr/>
        </p:nvSpPr>
        <p:spPr>
          <a:xfrm>
            <a:off x="548640" y="6519672"/>
            <a:ext cx="11064240" cy="0"/>
          </a:xfrm>
          <a:prstGeom prst="line">
            <a:avLst/>
          </a:prstGeom>
          <a:noFill/>
          <a:ln w="8890">
            <a:solidFill>
              <a:srgbClr val="D8DEE9"/>
            </a:solidFill>
            <a:prstDash val="solid"/>
          </a:ln>
        </p:spPr>
        <p:txBody>
          <a:bodyPr/>
          <a:lstStyle/>
          <a:p>
            <a:endParaRPr lang="en-US"/>
          </a:p>
        </p:txBody>
      </p:sp>
      <p:sp>
        <p:nvSpPr>
          <p:cNvPr id="5" name="Text 3"/>
          <p:cNvSpPr/>
          <p:nvPr/>
        </p:nvSpPr>
        <p:spPr>
          <a:xfrm>
            <a:off x="548640" y="6565392"/>
            <a:ext cx="9966960" cy="164592"/>
          </a:xfrm>
          <a:prstGeom prst="rect">
            <a:avLst/>
          </a:prstGeom>
          <a:noFill/>
          <a:ln/>
        </p:spPr>
        <p:txBody>
          <a:bodyPr wrap="square" lIns="0" tIns="0" rIns="0" bIns="0" rtlCol="0" anchor="ctr"/>
          <a:lstStyle/>
          <a:p>
            <a:pPr marL="0" indent="0">
              <a:buNone/>
            </a:pPr>
            <a:r>
              <a:rPr lang="en-US" sz="680" dirty="0">
                <a:solidFill>
                  <a:srgbClr val="6B7280"/>
                </a:solidFill>
                <a:latin typeface="Aptos" pitchFamily="34" charset="0"/>
                <a:ea typeface="Aptos" pitchFamily="34" charset="-122"/>
                <a:cs typeface="Aptos" pitchFamily="34" charset="-120"/>
              </a:rPr>
              <a:t>MoveAhead object detection progress review · 8 September 2026</a:t>
            </a:r>
            <a:endParaRPr lang="en-US" sz="680" dirty="0"/>
          </a:p>
        </p:txBody>
      </p:sp>
      <p:sp>
        <p:nvSpPr>
          <p:cNvPr id="6" name="Text 4"/>
          <p:cNvSpPr/>
          <p:nvPr/>
        </p:nvSpPr>
        <p:spPr>
          <a:xfrm>
            <a:off x="11292840" y="6537960"/>
            <a:ext cx="320040" cy="182880"/>
          </a:xfrm>
          <a:prstGeom prst="rect">
            <a:avLst/>
          </a:prstGeom>
          <a:noFill/>
          <a:ln/>
        </p:spPr>
        <p:txBody>
          <a:bodyPr wrap="square" lIns="0" tIns="0" rIns="0" bIns="0" rtlCol="0" anchor="ctr"/>
          <a:lstStyle/>
          <a:p>
            <a:pPr marL="0" indent="0" algn="r">
              <a:buNone/>
            </a:pPr>
            <a:r>
              <a:rPr lang="en-US" sz="720" b="1" dirty="0">
                <a:solidFill>
                  <a:srgbClr val="6B7280"/>
                </a:solidFill>
              </a:rPr>
              <a:t>12</a:t>
            </a:r>
            <a:endParaRPr lang="en-US" sz="720" dirty="0"/>
          </a:p>
        </p:txBody>
      </p:sp>
      <p:sp>
        <p:nvSpPr>
          <p:cNvPr id="7" name="Text 5"/>
          <p:cNvSpPr/>
          <p:nvPr/>
        </p:nvSpPr>
        <p:spPr>
          <a:xfrm>
            <a:off x="676656" y="1225296"/>
            <a:ext cx="2706624" cy="429768"/>
          </a:xfrm>
          <a:prstGeom prst="rect">
            <a:avLst/>
          </a:prstGeom>
          <a:noFill/>
          <a:ln/>
        </p:spPr>
        <p:txBody>
          <a:bodyPr wrap="square" lIns="0" tIns="0" rIns="0" bIns="0" rtlCol="0" anchor="ctr">
            <a:normAutofit/>
          </a:bodyPr>
          <a:lstStyle/>
          <a:p>
            <a:pPr marL="0" indent="0">
              <a:buNone/>
            </a:pPr>
            <a:r>
              <a:rPr lang="en-US" sz="900" b="1" dirty="0">
                <a:solidFill>
                  <a:srgbClr val="12213A"/>
                </a:solidFill>
                <a:latin typeface="Aptos" pitchFamily="34" charset="0"/>
                <a:ea typeface="Aptos" pitchFamily="34" charset="-122"/>
                <a:cs typeface="Aptos" pitchFamily="34" charset="-120"/>
              </a:rPr>
              <a:t>Claim area</a:t>
            </a:r>
            <a:endParaRPr lang="en-US" sz="900" dirty="0"/>
          </a:p>
        </p:txBody>
      </p:sp>
      <p:sp>
        <p:nvSpPr>
          <p:cNvPr id="8" name="Text 6"/>
          <p:cNvSpPr/>
          <p:nvPr/>
        </p:nvSpPr>
        <p:spPr>
          <a:xfrm>
            <a:off x="3419856" y="1225296"/>
            <a:ext cx="8010144" cy="429768"/>
          </a:xfrm>
          <a:prstGeom prst="rect">
            <a:avLst/>
          </a:prstGeom>
          <a:noFill/>
          <a:ln/>
        </p:spPr>
        <p:txBody>
          <a:bodyPr wrap="square" lIns="0" tIns="0" rIns="0" bIns="0" rtlCol="0" anchor="ctr">
            <a:normAutofit/>
          </a:bodyPr>
          <a:lstStyle/>
          <a:p>
            <a:pPr marL="0" indent="0">
              <a:buNone/>
            </a:pPr>
            <a:r>
              <a:rPr lang="en-US" sz="900" b="1" dirty="0">
                <a:solidFill>
                  <a:srgbClr val="12213A"/>
                </a:solidFill>
                <a:latin typeface="Aptos" pitchFamily="34" charset="0"/>
                <a:ea typeface="Aptos" pitchFamily="34" charset="-122"/>
                <a:cs typeface="Aptos" pitchFamily="34" charset="-120"/>
              </a:rPr>
              <a:t>Basis in current work</a:t>
            </a:r>
            <a:endParaRPr lang="en-US" sz="900" dirty="0"/>
          </a:p>
        </p:txBody>
      </p:sp>
      <p:sp>
        <p:nvSpPr>
          <p:cNvPr id="9" name="Shape 7"/>
          <p:cNvSpPr/>
          <p:nvPr/>
        </p:nvSpPr>
        <p:spPr>
          <a:xfrm>
            <a:off x="658368" y="1673352"/>
            <a:ext cx="10789920" cy="0"/>
          </a:xfrm>
          <a:prstGeom prst="line">
            <a:avLst/>
          </a:prstGeom>
          <a:noFill/>
          <a:ln w="12700">
            <a:solidFill>
              <a:srgbClr val="12213A"/>
            </a:solidFill>
            <a:prstDash val="solid"/>
          </a:ln>
        </p:spPr>
        <p:txBody>
          <a:bodyPr/>
          <a:lstStyle/>
          <a:p>
            <a:endParaRPr lang="en-US"/>
          </a:p>
        </p:txBody>
      </p:sp>
      <p:sp>
        <p:nvSpPr>
          <p:cNvPr id="10" name="Text 8"/>
          <p:cNvSpPr/>
          <p:nvPr/>
        </p:nvSpPr>
        <p:spPr>
          <a:xfrm>
            <a:off x="676656" y="1728216"/>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Basketball-small dataset</a:t>
            </a:r>
            <a:endParaRPr lang="en-US" sz="880" dirty="0"/>
          </a:p>
        </p:txBody>
      </p:sp>
      <p:sp>
        <p:nvSpPr>
          <p:cNvPr id="11" name="Text 9"/>
          <p:cNvSpPr/>
          <p:nvPr/>
        </p:nvSpPr>
        <p:spPr>
          <a:xfrm>
            <a:off x="3419856" y="1728216"/>
            <a:ext cx="80101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nb01.01: COCO/YOLO basketball_105_22_23, 150 total images</a:t>
            </a:r>
            <a:endParaRPr lang="en-US" sz="880" dirty="0"/>
          </a:p>
        </p:txBody>
      </p:sp>
      <p:sp>
        <p:nvSpPr>
          <p:cNvPr id="12" name="Shape 10"/>
          <p:cNvSpPr/>
          <p:nvPr/>
        </p:nvSpPr>
        <p:spPr>
          <a:xfrm>
            <a:off x="658368" y="2176272"/>
            <a:ext cx="10789920" cy="0"/>
          </a:xfrm>
          <a:prstGeom prst="line">
            <a:avLst/>
          </a:prstGeom>
          <a:noFill/>
          <a:ln w="5080">
            <a:solidFill>
              <a:srgbClr val="D8DEE9"/>
            </a:solidFill>
            <a:prstDash val="solid"/>
          </a:ln>
        </p:spPr>
        <p:txBody>
          <a:bodyPr/>
          <a:lstStyle/>
          <a:p>
            <a:endParaRPr lang="en-US"/>
          </a:p>
        </p:txBody>
      </p:sp>
      <p:sp>
        <p:nvSpPr>
          <p:cNvPr id="13" name="Text 11"/>
          <p:cNvSpPr/>
          <p:nvPr/>
        </p:nvSpPr>
        <p:spPr>
          <a:xfrm>
            <a:off x="676656" y="2231136"/>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Basketball-large dataset</a:t>
            </a:r>
            <a:endParaRPr lang="en-US" sz="880" dirty="0"/>
          </a:p>
        </p:txBody>
      </p:sp>
      <p:sp>
        <p:nvSpPr>
          <p:cNvPr id="14" name="Text 12"/>
          <p:cNvSpPr/>
          <p:nvPr/>
        </p:nvSpPr>
        <p:spPr>
          <a:xfrm>
            <a:off x="3419856" y="2231136"/>
            <a:ext cx="80101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nb01.02: COCO/YOLO basketball_11501_1156_1395, 14,052 total images</a:t>
            </a:r>
            <a:endParaRPr lang="en-US" sz="880" dirty="0"/>
          </a:p>
        </p:txBody>
      </p:sp>
      <p:sp>
        <p:nvSpPr>
          <p:cNvPr id="15" name="Shape 13"/>
          <p:cNvSpPr/>
          <p:nvPr/>
        </p:nvSpPr>
        <p:spPr>
          <a:xfrm>
            <a:off x="658368" y="2679192"/>
            <a:ext cx="10789920" cy="0"/>
          </a:xfrm>
          <a:prstGeom prst="line">
            <a:avLst/>
          </a:prstGeom>
          <a:noFill/>
          <a:ln w="5080">
            <a:solidFill>
              <a:srgbClr val="D8DEE9"/>
            </a:solidFill>
            <a:prstDash val="solid"/>
          </a:ln>
        </p:spPr>
        <p:txBody>
          <a:bodyPr/>
          <a:lstStyle/>
          <a:p>
            <a:endParaRPr lang="en-US"/>
          </a:p>
        </p:txBody>
      </p:sp>
      <p:sp>
        <p:nvSpPr>
          <p:cNvPr id="16" name="Text 14"/>
          <p:cNvSpPr/>
          <p:nvPr/>
        </p:nvSpPr>
        <p:spPr>
          <a:xfrm>
            <a:off x="676656" y="2734056"/>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Football dataset</a:t>
            </a:r>
            <a:endParaRPr lang="en-US" sz="880" dirty="0"/>
          </a:p>
        </p:txBody>
      </p:sp>
      <p:sp>
        <p:nvSpPr>
          <p:cNvPr id="17" name="Text 15"/>
          <p:cNvSpPr/>
          <p:nvPr/>
        </p:nvSpPr>
        <p:spPr>
          <a:xfrm>
            <a:off x="3419856" y="2734056"/>
            <a:ext cx="80101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nb01.03: COCO/YOLO football_3529_718_785, 5,032 retained images</a:t>
            </a:r>
            <a:endParaRPr lang="en-US" sz="880" dirty="0"/>
          </a:p>
        </p:txBody>
      </p:sp>
      <p:sp>
        <p:nvSpPr>
          <p:cNvPr id="18" name="Shape 16"/>
          <p:cNvSpPr/>
          <p:nvPr/>
        </p:nvSpPr>
        <p:spPr>
          <a:xfrm>
            <a:off x="658368" y="3182112"/>
            <a:ext cx="10789920" cy="0"/>
          </a:xfrm>
          <a:prstGeom prst="line">
            <a:avLst/>
          </a:prstGeom>
          <a:noFill/>
          <a:ln w="5080">
            <a:solidFill>
              <a:srgbClr val="D8DEE9"/>
            </a:solidFill>
            <a:prstDash val="solid"/>
          </a:ln>
        </p:spPr>
        <p:txBody>
          <a:bodyPr/>
          <a:lstStyle/>
          <a:p>
            <a:endParaRPr lang="en-US"/>
          </a:p>
        </p:txBody>
      </p:sp>
      <p:sp>
        <p:nvSpPr>
          <p:cNvPr id="19" name="Text 17"/>
          <p:cNvSpPr/>
          <p:nvPr/>
        </p:nvSpPr>
        <p:spPr>
          <a:xfrm>
            <a:off x="676656" y="3236976"/>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YOLO11n results</a:t>
            </a:r>
            <a:endParaRPr lang="en-US" sz="880" dirty="0"/>
          </a:p>
        </p:txBody>
      </p:sp>
      <p:sp>
        <p:nvSpPr>
          <p:cNvPr id="20" name="Text 18"/>
          <p:cNvSpPr/>
          <p:nvPr/>
        </p:nvSpPr>
        <p:spPr>
          <a:xfrm>
            <a:off x="3419856" y="3236976"/>
            <a:ext cx="80101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nb02.01 and nb02.02: validation/test metrics and speed outputs</a:t>
            </a:r>
            <a:endParaRPr lang="en-US" sz="880" dirty="0"/>
          </a:p>
        </p:txBody>
      </p:sp>
      <p:sp>
        <p:nvSpPr>
          <p:cNvPr id="21" name="Shape 19"/>
          <p:cNvSpPr/>
          <p:nvPr/>
        </p:nvSpPr>
        <p:spPr>
          <a:xfrm>
            <a:off x="658368" y="3685032"/>
            <a:ext cx="10789920" cy="0"/>
          </a:xfrm>
          <a:prstGeom prst="line">
            <a:avLst/>
          </a:prstGeom>
          <a:noFill/>
          <a:ln w="5080">
            <a:solidFill>
              <a:srgbClr val="D8DEE9"/>
            </a:solidFill>
            <a:prstDash val="solid"/>
          </a:ln>
        </p:spPr>
        <p:txBody>
          <a:bodyPr/>
          <a:lstStyle/>
          <a:p>
            <a:endParaRPr lang="en-US"/>
          </a:p>
        </p:txBody>
      </p:sp>
      <p:sp>
        <p:nvSpPr>
          <p:cNvPr id="22" name="Text 20"/>
          <p:cNvSpPr/>
          <p:nvPr/>
        </p:nvSpPr>
        <p:spPr>
          <a:xfrm>
            <a:off x="676656" y="3739896"/>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YOLOX-Tiny results</a:t>
            </a:r>
            <a:endParaRPr lang="en-US" sz="880" dirty="0"/>
          </a:p>
        </p:txBody>
      </p:sp>
      <p:sp>
        <p:nvSpPr>
          <p:cNvPr id="23" name="Text 21"/>
          <p:cNvSpPr/>
          <p:nvPr/>
        </p:nvSpPr>
        <p:spPr>
          <a:xfrm>
            <a:off x="3419856" y="3739896"/>
            <a:ext cx="80101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nb03.01 and nb03.02: validation/test metrics and speed outputs</a:t>
            </a:r>
            <a:endParaRPr lang="en-US" sz="880" dirty="0"/>
          </a:p>
        </p:txBody>
      </p:sp>
      <p:sp>
        <p:nvSpPr>
          <p:cNvPr id="24" name="Shape 22"/>
          <p:cNvSpPr/>
          <p:nvPr/>
        </p:nvSpPr>
        <p:spPr>
          <a:xfrm>
            <a:off x="658368" y="4187952"/>
            <a:ext cx="10789920" cy="0"/>
          </a:xfrm>
          <a:prstGeom prst="line">
            <a:avLst/>
          </a:prstGeom>
          <a:noFill/>
          <a:ln w="5080">
            <a:solidFill>
              <a:srgbClr val="D8DEE9"/>
            </a:solidFill>
            <a:prstDash val="solid"/>
          </a:ln>
        </p:spPr>
        <p:txBody>
          <a:bodyPr/>
          <a:lstStyle/>
          <a:p>
            <a:endParaRPr lang="en-US"/>
          </a:p>
        </p:txBody>
      </p:sp>
      <p:sp>
        <p:nvSpPr>
          <p:cNvPr id="25" name="Text 23"/>
          <p:cNvSpPr/>
          <p:nvPr/>
        </p:nvSpPr>
        <p:spPr>
          <a:xfrm>
            <a:off x="676656" y="4242816"/>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RF-DETR + export status</a:t>
            </a:r>
            <a:endParaRPr lang="en-US" sz="880" dirty="0"/>
          </a:p>
        </p:txBody>
      </p:sp>
      <p:sp>
        <p:nvSpPr>
          <p:cNvPr id="26" name="Text 24"/>
          <p:cNvSpPr/>
          <p:nvPr/>
        </p:nvSpPr>
        <p:spPr>
          <a:xfrm>
            <a:off x="3419856" y="4242816"/>
            <a:ext cx="80101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nb04.02: completed RF-DETR Small benchmark; no ONNX/TFLite model artifact or Unity integration yet</a:t>
            </a:r>
            <a:endParaRPr lang="en-US" sz="880" dirty="0"/>
          </a:p>
        </p:txBody>
      </p:sp>
      <p:sp>
        <p:nvSpPr>
          <p:cNvPr id="27" name="Shape 25"/>
          <p:cNvSpPr/>
          <p:nvPr/>
        </p:nvSpPr>
        <p:spPr>
          <a:xfrm>
            <a:off x="658368" y="4690872"/>
            <a:ext cx="10789920" cy="0"/>
          </a:xfrm>
          <a:prstGeom prst="line">
            <a:avLst/>
          </a:prstGeom>
          <a:noFill/>
          <a:ln w="5080">
            <a:solidFill>
              <a:srgbClr val="D8DEE9"/>
            </a:solidFill>
            <a:prstDash val="solid"/>
          </a:ln>
        </p:spPr>
        <p:txBody>
          <a:bodyPr/>
          <a:lstStyle/>
          <a:p>
            <a:endParaRPr lang="en-US"/>
          </a:p>
        </p:txBody>
      </p:sp>
      <p:sp>
        <p:nvSpPr>
          <p:cNvPr id="28" name="Text 26"/>
          <p:cNvSpPr/>
          <p:nvPr/>
        </p:nvSpPr>
        <p:spPr>
          <a:xfrm>
            <a:off x="676656" y="4745736"/>
            <a:ext cx="270662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Licence notes</a:t>
            </a:r>
            <a:endParaRPr lang="en-US" sz="880" dirty="0"/>
          </a:p>
        </p:txBody>
      </p:sp>
      <p:sp>
        <p:nvSpPr>
          <p:cNvPr id="29" name="Text 27"/>
          <p:cNvSpPr/>
          <p:nvPr/>
        </p:nvSpPr>
        <p:spPr>
          <a:xfrm>
            <a:off x="3419856" y="4745736"/>
            <a:ext cx="8010144" cy="429768"/>
          </a:xfrm>
          <a:prstGeom prst="rect">
            <a:avLst/>
          </a:prstGeom>
          <a:noFill/>
          <a:ln/>
        </p:spPr>
        <p:txBody>
          <a:bodyPr wrap="square" lIns="0" tIns="0" rIns="0" bIns="0" rtlCol="0" anchor="ctr">
            <a:normAutofit/>
          </a:bodyPr>
          <a:lstStyle/>
          <a:p>
            <a:pPr marL="0" indent="0">
              <a:buNone/>
            </a:pPr>
            <a:r>
              <a:rPr lang="en-US" sz="880" dirty="0">
                <a:solidFill>
                  <a:srgbClr val="151A23"/>
                </a:solidFill>
                <a:latin typeface="Aptos" pitchFamily="34" charset="0"/>
                <a:ea typeface="Aptos" pitchFamily="34" charset="-122"/>
                <a:cs typeface="Aptos" pitchFamily="34" charset="-120"/>
              </a:rPr>
              <a:t>Ultralytics licence page; YOLOX GitHub Apache-2.0; RF-DETR GitHub/PyPI licence split</a:t>
            </a:r>
            <a:endParaRPr lang="en-US" sz="880" dirty="0"/>
          </a:p>
        </p:txBody>
      </p:sp>
      <p:sp>
        <p:nvSpPr>
          <p:cNvPr id="30" name="Shape 28"/>
          <p:cNvSpPr/>
          <p:nvPr/>
        </p:nvSpPr>
        <p:spPr>
          <a:xfrm>
            <a:off x="658368" y="5193792"/>
            <a:ext cx="10789920" cy="0"/>
          </a:xfrm>
          <a:prstGeom prst="line">
            <a:avLst/>
          </a:prstGeom>
          <a:noFill/>
          <a:ln w="5080">
            <a:solidFill>
              <a:srgbClr val="D8DEE9"/>
            </a:solidFill>
            <a:prstDash val="solid"/>
          </a:ln>
        </p:spPr>
        <p:txBody>
          <a:bodyPr/>
          <a:lstStyle/>
          <a:p>
            <a:endParaRPr lang="en-US"/>
          </a:p>
        </p:txBody>
      </p:sp>
      <p:sp>
        <p:nvSpPr>
          <p:cNvPr id="31" name="Text 29"/>
          <p:cNvSpPr/>
          <p:nvPr/>
        </p:nvSpPr>
        <p:spPr>
          <a:xfrm>
            <a:off x="658368" y="5596128"/>
            <a:ext cx="9692640" cy="320040"/>
          </a:xfrm>
          <a:prstGeom prst="rect">
            <a:avLst/>
          </a:prstGeom>
          <a:noFill/>
          <a:ln/>
        </p:spPr>
        <p:txBody>
          <a:bodyPr wrap="square" lIns="0" tIns="0" rIns="0" bIns="0" rtlCol="0" anchor="ctr">
            <a:normAutofit/>
          </a:bodyPr>
          <a:lstStyle/>
          <a:p>
            <a:pPr marL="0" indent="0">
              <a:buNone/>
            </a:pPr>
            <a:r>
              <a:rPr lang="en-US" sz="950" dirty="0">
                <a:solidFill>
                  <a:srgbClr val="6B7280"/>
                </a:solidFill>
              </a:rPr>
              <a:t>Raw source URLs are intentionally not over-emphasised in the main slides; dataset provenance and licensing checks should live in the project manifest/report.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2456</Words>
  <Application>Microsoft Macintosh PowerPoint</Application>
  <PresentationFormat>Widescreen</PresentationFormat>
  <Paragraphs>366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DCU / MoveAhead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MoveAhead Object Detection Progress Review</dc:title>
  <dc:subject>MoveAhead Object Detection Progress Review</dc:subject>
  <dc:creator>Chunyu Long</dc:creator>
  <cp:lastModifiedBy>Chunyu Long</cp:lastModifiedBy>
  <cp:revision>28</cp:revision>
  <dcterms:created xsi:type="dcterms:W3CDTF">2026-09-07T14:10:39Z</dcterms:created>
  <dcterms:modified xsi:type="dcterms:W3CDTF">2026-09-08T09:48:58Z</dcterms:modified>
</cp:coreProperties>
</file>